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81" r:id="rId5"/>
    <p:sldId id="284" r:id="rId6"/>
    <p:sldId id="324" r:id="rId7"/>
    <p:sldId id="326" r:id="rId8"/>
    <p:sldId id="367" r:id="rId9"/>
    <p:sldId id="341" r:id="rId10"/>
    <p:sldId id="343" r:id="rId11"/>
    <p:sldId id="346" r:id="rId12"/>
    <p:sldId id="345" r:id="rId13"/>
    <p:sldId id="347" r:id="rId14"/>
    <p:sldId id="351" r:id="rId15"/>
    <p:sldId id="365" r:id="rId16"/>
    <p:sldId id="310" r:id="rId17"/>
    <p:sldId id="360" r:id="rId18"/>
    <p:sldId id="353" r:id="rId19"/>
    <p:sldId id="354" r:id="rId20"/>
    <p:sldId id="355" r:id="rId21"/>
    <p:sldId id="357" r:id="rId22"/>
    <p:sldId id="358" r:id="rId23"/>
    <p:sldId id="359" r:id="rId24"/>
    <p:sldId id="361" r:id="rId25"/>
    <p:sldId id="362" r:id="rId26"/>
    <p:sldId id="364" r:id="rId27"/>
    <p:sldId id="363" r:id="rId28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ADE"/>
    <a:srgbClr val="00023A"/>
    <a:srgbClr val="D56F1D"/>
    <a:srgbClr val="FAEADD"/>
    <a:srgbClr val="EEB500"/>
    <a:srgbClr val="F6DAC2"/>
    <a:srgbClr val="F4E4E7"/>
    <a:srgbClr val="FFF9E5"/>
    <a:srgbClr val="FFD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3BBFA-4156-FD24-5CC9-461DB5FA3775}" v="2708" dt="2025-12-07T16:53:13.459"/>
    <p1510:client id="{7A977A40-9E57-4C5B-87AF-023052BEC070}" v="7281" dt="2025-12-07T14:17:11.855"/>
    <p1510:client id="{836F50B2-D2D7-8216-7068-FDEC78FB0133}" v="1370" dt="2025-12-07T12:57:05.203"/>
    <p1510:client id="{F6BE82B8-5AEF-C06E-68DE-7A07743FCF53}" v="1121" dt="2025-12-06T17:52:41.889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719C9-650E-2CF4-9F78-F277078B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F7B3F-7C9B-BFD9-6E15-0BDA94B9F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E9D12-EBBA-45D3-94B7-56622536E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32B33-6C71-B382-DB44-0DA0A8B24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51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78514-D862-7D02-EC31-05877A13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21B16-4106-A774-5867-13270DBAE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C59EA-FF59-B7E3-0AFB-74766A3BE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5169C-9AB7-5620-AA2C-63FCD414A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45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3A05-8F4A-39B4-3310-781D7D59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5757E-23DE-C9B7-297F-72A36857E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E6543-99BC-98F4-E628-9C7C494D2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857C8-1F0E-2760-4C44-2AAF1D061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12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15EBB-DEF3-1316-BA7A-128A0773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B7921-C43A-3CB2-5702-641E8EE04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FC6F6-CD57-AC75-EA4A-F7A926A8D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8E7AB-86FF-7071-767A-81BC04FEB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96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5DEB4-832D-E717-5DAE-35D9CF3D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D1A3F-A578-7B11-9416-3D003F4CE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03C57-C6D0-BD6F-0A2B-7796D0CF4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5106B-2787-7DFE-02CF-D6F97BC8B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1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022E3-521B-18A3-A1AA-71994114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95B8D-7AC1-64BD-5372-1759A0FC2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25DB1-4F23-14A2-9230-4310248EC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3BB90-6B9A-34C6-2766-19F21856F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14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B39D-A82C-D0FB-FA55-9C4C7BDA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5988A-5B45-A655-2AF9-74A7AF4F4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B58D9-47A1-BC65-D06B-FC55FD4F7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73E05-23E7-EE3B-DC5A-7A73775CA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53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6E80B-3E3A-9C83-EFBB-72CB05D33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EA65C-C1E5-827D-28B0-72176D162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95DA7-BC94-A79D-4872-FA9B79D2C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AA25A-39BC-C74D-E678-895EF24E8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47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0BD65-C515-4048-187E-5F001599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79BA6-761D-9196-BA34-3985299C1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237A3-E4D6-B0AA-4AC7-C1F87856C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49CE6-082A-885E-3632-295D5A151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66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6DD12-C8E7-0B46-A91C-CD71DC3B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5DCC1-54CB-F470-49B0-3EF08B7CA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4100B-2A0F-0D15-DBBF-737607BA1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22A8E-3699-92DD-E98C-C064A8309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29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0052-F1A4-ACBD-7BFD-28AB1C92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8F452-E6E9-E36F-6F9E-770548145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AB413-BAA0-CA06-E5C3-363D5464D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B52BE-1E85-82D3-1673-B81A4E235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27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FB1AF-E8CA-1185-3C32-60DF0D43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B615A-1654-DA72-C4C3-561B16DE2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70FDE-FFD7-521D-6938-C9EDF0CB4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69FD1-7446-5AC5-CC90-6F740C494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63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08C5-6AA7-781C-3CF9-3D8036512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5C307-381D-3CB8-D861-3B0BC450E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05988-984A-09F0-643F-A70633952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3B2BD-411C-75C0-2AF2-93C7C1965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63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6E67-800D-DE0A-0A5E-F0869FB8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CC3C4-2B41-4591-8C2B-EAF2B4960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7A3AF-66CF-AB66-9B49-114BD67C4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4A904-7459-27CD-C1EB-0AC581977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64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9DF8E-D808-965A-38B3-70E3526B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14391-77AD-0447-8469-04F250239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1FE53-A97E-B746-AB3A-2199F5C50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D2F65-ACF2-FDF0-797A-7B67B5514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75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6276-E2DB-314C-8972-451A61DC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30AD4-00B9-1D72-5E2F-3C20B1F73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B5E1C-7F03-3551-8E06-0F897BAC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1FA20-018F-1528-BCF1-36D446C89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63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16F93-AE77-F287-6D3A-69DE12D1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86822-8FF7-BF6A-AA11-86A78767F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44670-A051-5139-D4DB-B8266BCCF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D076F-5E08-C0D5-6527-9CE5CE5D1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199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FF30-1D87-E466-2EFF-8DCC5769E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3F8FB-0792-F7E5-6D25-BCE1A219B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E052F-69DF-3621-E21B-076F44AB4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42E0F-4B83-7587-F4EA-5B6BA4532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44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6DE4-5BCA-6BE7-46D4-D2A7DB8D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01913-1AC1-F3C4-B09B-2852773F3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55382-3BBC-1FAE-130E-192BE6643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85BD2-F202-EE86-52FF-00B5BBCAB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031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C741E-7FFC-3FA6-C2A3-05123025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B4DE2-8F65-2FC0-137A-6D87B4D59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30F8D-723C-25DE-9ED5-302A2845A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46687-25CE-8602-B504-8072B5081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879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0BC76-1E5D-F354-EE72-2CBEB95D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0D6D9-D93A-7B35-E4A2-637CD6C5F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3D1FC-772E-94AE-9F8C-4FA68074C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BE5D0-FE4D-2629-9B90-8DA79B86A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035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52EF-B963-651E-7331-3B688CA2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40657-19E3-8BEE-3536-0211524E5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5BAC1-757A-D8D4-DE75-A2CB12294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5B238-9169-A18F-2B1A-D55C63F82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44788-FD29-F3F9-94A3-4C208F74D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1002" y="6303146"/>
            <a:ext cx="5950998" cy="9765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6900414" cy="87693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69714"/>
            <a:ext cx="12192000" cy="8437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0C3500-8A54-DA33-EE3A-392AC7827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69714"/>
            <a:ext cx="12192000" cy="8437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7572AF-7ECD-7624-CCB1-82F916A24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69714"/>
            <a:ext cx="12192000" cy="8437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B0BFD8-D7F2-2F16-88E4-BF531A64D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69714"/>
            <a:ext cx="12192000" cy="8437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ADF5E-870C-DFAC-A1C7-9A5E0D6E6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69714"/>
            <a:ext cx="12192000" cy="8437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8F305-2AF6-0477-9D77-66F12373D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69714"/>
            <a:ext cx="12192000" cy="8437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internetgovernance.org/2023/12/01/the-narrative-december-1-2023/humanusesmartphonewithonlinebankingdigitaltechnologymobilebanking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hyperlink" Target="https://github.com/20241143/EDSB_25_28" TargetMode="External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Ypheros/EDSB_25_28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bstract image">
            <a:extLst>
              <a:ext uri="{FF2B5EF4-FFF2-40B4-BE49-F238E27FC236}">
                <a16:creationId xmlns:a16="http://schemas.microsoft.com/office/drawing/2014/main" id="{3834A37D-6E97-29F3-F31A-808299A29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" y="0"/>
            <a:ext cx="12187101" cy="685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734050"/>
          </a:xfrm>
        </p:spPr>
        <p:txBody>
          <a:bodyPr/>
          <a:lstStyle/>
          <a:p>
            <a:r>
              <a:rPr lang="en-US" sz="4000" dirty="0"/>
              <a:t>ENTERPRISE DATA SCIENCE BOOTCAMP</a:t>
            </a:r>
            <a:br>
              <a:rPr lang="en-US" sz="4000" dirty="0"/>
            </a:br>
            <a:br>
              <a:rPr lang="en-US" dirty="0"/>
            </a:br>
            <a:r>
              <a:rPr lang="en-US" dirty="0"/>
              <a:t>predicting the success of bank telemarketing campaigns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4225B6-0B18-3FC7-E448-D39B6B627A7A}"/>
              </a:ext>
            </a:extLst>
          </p:cNvPr>
          <p:cNvSpPr txBox="1"/>
          <p:nvPr/>
        </p:nvSpPr>
        <p:spPr>
          <a:xfrm>
            <a:off x="10680335" y="6044972"/>
            <a:ext cx="1059393" cy="369332"/>
          </a:xfrm>
          <a:prstGeom prst="rect">
            <a:avLst/>
          </a:prstGeom>
          <a:solidFill>
            <a:srgbClr val="00023A">
              <a:alpha val="35000"/>
            </a:srgbClr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</a:rPr>
              <a:t>Group</a:t>
            </a:r>
            <a:r>
              <a:rPr lang="pt-PT" b="1" dirty="0">
                <a:solidFill>
                  <a:schemeClr val="bg1"/>
                </a:solidFill>
              </a:rPr>
              <a:t> 28</a:t>
            </a:r>
            <a:endParaRPr lang="pt-PT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9D89A2-8DBD-183E-A021-D58403DFBB32}"/>
              </a:ext>
            </a:extLst>
          </p:cNvPr>
          <p:cNvSpPr txBox="1"/>
          <p:nvPr/>
        </p:nvSpPr>
        <p:spPr>
          <a:xfrm>
            <a:off x="2432391" y="6517694"/>
            <a:ext cx="7326108" cy="276999"/>
          </a:xfrm>
          <a:prstGeom prst="rect">
            <a:avLst/>
          </a:prstGeom>
          <a:solidFill>
            <a:srgbClr val="00023A">
              <a:alpha val="35000"/>
            </a:srgbClr>
          </a:solidFill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  <a:ea typeface="+mn-lt"/>
                <a:cs typeface="+mn-lt"/>
              </a:rPr>
              <a:t>Diogo Ferreira (20241143) | Francisco Moutinho (20240818) | Pedro Boto (20241144) | João Carvalho (20241340)</a:t>
            </a:r>
            <a:endParaRPr lang="pt-PT" sz="12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540" y="317500"/>
            <a:ext cx="6093573" cy="2803878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telemarketing campaign optimization:</a:t>
            </a:r>
            <a:br>
              <a:rPr lang="en-GB" dirty="0"/>
            </a:br>
            <a:br>
              <a:rPr lang="en-GB" dirty="0"/>
            </a:br>
            <a:r>
              <a:rPr lang="en-GB" sz="1400" b="1" dirty="0"/>
              <a:t>Who should we call? And when</a:t>
            </a:r>
            <a:r>
              <a:rPr lang="en-GB" sz="1400" dirty="0"/>
              <a:t>?</a:t>
            </a:r>
            <a:br>
              <a:rPr lang="en-GB" dirty="0"/>
            </a:br>
            <a:br>
              <a:rPr lang="en-GB" sz="1600" dirty="0"/>
            </a:br>
            <a:r>
              <a:rPr lang="en-GB" sz="1600" dirty="0"/>
              <a:t>This project identifies bank customers most likely to subscribe to long-term deposit products, helping improve campaign efficiency and conversion rates</a:t>
            </a:r>
            <a:endParaRPr lang="en-GB" sz="1600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834" y="3252611"/>
            <a:ext cx="5848040" cy="2971800"/>
          </a:xfrm>
          <a:noFill/>
        </p:spPr>
        <p:txBody>
          <a:bodyPr anchor="t">
            <a:normAutofit fontScale="85000" lnSpcReduction="2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cap="none" dirty="0">
                <a:latin typeface="+mj-lt"/>
                <a:ea typeface="+mj-ea"/>
                <a:cs typeface="+mj-cs"/>
              </a:rPr>
              <a:t>AGENDA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cap="none" dirty="0">
              <a:latin typeface="+mj-lt"/>
              <a:ea typeface="+mj-ea"/>
              <a:cs typeface="+mj-cs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cap="none" spc="0" dirty="0">
                <a:latin typeface="Arial"/>
                <a:cs typeface="Arial"/>
              </a:rPr>
              <a:t>  Business Problem</a:t>
            </a:r>
            <a:endParaRPr lang="en-US" altLang="en-US" sz="1400" cap="none" spc="0" dirty="0">
              <a:latin typeface="Arial"/>
              <a:cs typeface="Arial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cap="none" spc="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cap="none" spc="0" dirty="0">
                <a:latin typeface="Arial"/>
                <a:cs typeface="Arial"/>
              </a:rPr>
              <a:t>  Exploration and Data Analysis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cap="none" spc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cap="none" spc="0" dirty="0">
                <a:latin typeface="Arial"/>
                <a:cs typeface="Arial"/>
              </a:rPr>
              <a:t>  Modelling Workflow </a:t>
            </a:r>
            <a:endParaRPr lang="en-US" altLang="en-US" b="1" cap="none" spc="0" dirty="0">
              <a:latin typeface="Arial" panose="020B0604020202020204" pitchFamily="34" charset="0"/>
              <a:cs typeface="Arial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cap="none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cap="none" spc="0" dirty="0">
                <a:latin typeface="Arial"/>
                <a:cs typeface="Arial"/>
              </a:rPr>
              <a:t>  Feature Engineering</a:t>
            </a:r>
          </a:p>
          <a:p>
            <a: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cap="none" spc="0" dirty="0">
              <a:latin typeface="Arial" panose="020B0604020202020204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cap="none" spc="0" dirty="0">
                <a:latin typeface="Arial"/>
                <a:cs typeface="Arial"/>
              </a:rPr>
              <a:t>  Modelling Approach</a:t>
            </a:r>
            <a:endParaRPr lang="en-US" altLang="en-US" b="1" cap="none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cap="none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cap="none" spc="0" dirty="0">
                <a:latin typeface="Arial"/>
                <a:cs typeface="Arial"/>
              </a:rPr>
              <a:t>  Results and Solution Output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cap="none" spc="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cap="none" spc="0" dirty="0">
                <a:latin typeface="Arial"/>
                <a:cs typeface="Arial"/>
              </a:rPr>
              <a:t>  Key Takeaways </a:t>
            </a:r>
            <a:endParaRPr lang="en-US" b="1" cap="none" spc="0" dirty="0">
              <a:latin typeface="Arial"/>
              <a:cs typeface="Arial"/>
            </a:endParaRPr>
          </a:p>
        </p:txBody>
      </p:sp>
      <p:pic>
        <p:nvPicPr>
          <p:cNvPr id="11" name="Picture Placeholder 10" descr="A hand holding a phone&#10;&#10;AI-generated content may be incorrect.">
            <a:extLst>
              <a:ext uri="{FF2B5EF4-FFF2-40B4-BE49-F238E27FC236}">
                <a16:creationId xmlns:a16="http://schemas.microsoft.com/office/drawing/2014/main" id="{04F6015B-4892-E2B6-23E9-822467D05E7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5880" r="25880"/>
          <a:stretch>
            <a:fillRect/>
          </a:stretch>
        </p:blipFill>
        <p:spPr/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940A35-8A15-D9E2-E183-184C36D94FD6}"/>
              </a:ext>
            </a:extLst>
          </p:cNvPr>
          <p:cNvSpPr txBox="1"/>
          <p:nvPr/>
        </p:nvSpPr>
        <p:spPr>
          <a:xfrm>
            <a:off x="-28882" y="6858000"/>
            <a:ext cx="61150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>
                <a:hlinkClick r:id="rId4" tooltip="https://www.internetgovernance.org/2023/12/01/the-narrative-december-1-2023/humanusesmartphonewithonlinebankingdigitaltechnologymobilebanking/"/>
              </a:rPr>
              <a:t>This Photo</a:t>
            </a:r>
            <a:r>
              <a:rPr lang="pt-PT" sz="900"/>
              <a:t> by Unknown Author is licensed under </a:t>
            </a:r>
            <a:r>
              <a:rPr lang="pt-PT" sz="900">
                <a:hlinkClick r:id="rId5" tooltip="https://creativecommons.org/licenses/by-nc-nd/3.0/"/>
              </a:rPr>
              <a:t>CC BY-NC-ND</a:t>
            </a:r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72C8-9C4F-9655-2A69-A9DB507D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70A040-2600-8947-E354-66D6313054D1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23FB9E-5300-A8C4-D433-BA00B562F017}"/>
              </a:ext>
            </a:extLst>
          </p:cNvPr>
          <p:cNvSpPr/>
          <p:nvPr/>
        </p:nvSpPr>
        <p:spPr>
          <a:xfrm>
            <a:off x="381001" y="3543300"/>
            <a:ext cx="11429999" cy="2724150"/>
          </a:xfrm>
          <a:prstGeom prst="roundRect">
            <a:avLst>
              <a:gd name="adj" fmla="val 4033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0B0A7E-C239-3DB3-66F1-D3B988A2B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2295"/>
            <a:ext cx="11430000" cy="1428870"/>
          </a:xfrm>
        </p:spPr>
        <p:txBody>
          <a:bodyPr anchor="t"/>
          <a:lstStyle/>
          <a:p>
            <a:pPr algn="l"/>
            <a:r>
              <a:rPr lang="en-US"/>
              <a:t>How can banks turn low-yield telemarketing campaigns into data-driven success stories?</a:t>
            </a:r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339C7-C485-FEE0-B4CE-0072A9550683}"/>
              </a:ext>
            </a:extLst>
          </p:cNvPr>
          <p:cNvSpPr txBox="1"/>
          <p:nvPr/>
        </p:nvSpPr>
        <p:spPr>
          <a:xfrm>
            <a:off x="1096233" y="3695680"/>
            <a:ext cx="292245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dirty="0">
                <a:solidFill>
                  <a:schemeClr val="accent1"/>
                </a:solidFill>
              </a:rPr>
              <a:t>GOALS</a:t>
            </a:r>
            <a:endParaRPr lang="en-GB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Improve campaign efficiency </a:t>
            </a:r>
            <a:r>
              <a:rPr lang="en-GB" sz="1600" dirty="0"/>
              <a:t>by targeting the right customers</a:t>
            </a:r>
            <a:endParaRPr lang="en-GB" sz="16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Identify key factors </a:t>
            </a:r>
            <a:r>
              <a:rPr lang="en-GB" sz="1600" dirty="0"/>
              <a:t>influencing success</a:t>
            </a:r>
            <a:endParaRPr lang="en-GB" sz="16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Provide </a:t>
            </a:r>
            <a:r>
              <a:rPr lang="en-GB" sz="1600" b="1" dirty="0"/>
              <a:t>actionable recommendations </a:t>
            </a:r>
            <a:r>
              <a:rPr lang="en-GB" sz="1600" dirty="0"/>
              <a:t>for strategy optimization</a:t>
            </a:r>
            <a:endParaRPr lang="en-GB" sz="16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64EE9-2D9E-D23F-5A09-753E3ACD850E}"/>
              </a:ext>
            </a:extLst>
          </p:cNvPr>
          <p:cNvSpPr txBox="1"/>
          <p:nvPr/>
        </p:nvSpPr>
        <p:spPr>
          <a:xfrm>
            <a:off x="1714500" y="2091689"/>
            <a:ext cx="4419600" cy="83099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en-GB" sz="1600" dirty="0">
                <a:solidFill>
                  <a:schemeClr val="accent2">
                    <a:lumMod val="75000"/>
                  </a:schemeClr>
                </a:solidFill>
              </a:rPr>
              <a:t>Business Problem</a:t>
            </a:r>
            <a:endParaRPr lang="en-GB" sz="16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GB" sz="1600" b="1" dirty="0"/>
              <a:t>Telemarketing is a key channel </a:t>
            </a:r>
            <a:r>
              <a:rPr lang="en-GB" sz="1600" dirty="0"/>
              <a:t>for banks to sell long-term deposits, </a:t>
            </a:r>
            <a:r>
              <a:rPr lang="en-GB" sz="1600" b="1" dirty="0"/>
              <a:t>but success rates are low</a:t>
            </a:r>
            <a:endParaRPr lang="en-GB" sz="1600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2D025-D606-F49B-A732-86B86795C384}"/>
              </a:ext>
            </a:extLst>
          </p:cNvPr>
          <p:cNvSpPr txBox="1"/>
          <p:nvPr/>
        </p:nvSpPr>
        <p:spPr>
          <a:xfrm>
            <a:off x="7153275" y="2091690"/>
            <a:ext cx="4419600" cy="83099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en-GB" sz="1600" dirty="0">
                <a:solidFill>
                  <a:schemeClr val="accent2">
                    <a:lumMod val="75000"/>
                  </a:schemeClr>
                </a:solidFill>
              </a:rPr>
              <a:t>Objective</a:t>
            </a:r>
            <a:endParaRPr lang="en-GB" sz="16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GB" sz="1600" b="1" dirty="0"/>
              <a:t>Develop a predictive model </a:t>
            </a:r>
            <a:r>
              <a:rPr lang="en-GB" sz="1600" dirty="0"/>
              <a:t>to determine whether a telemarketing call will result in a </a:t>
            </a:r>
            <a:r>
              <a:rPr lang="en-GB" sz="1600" b="1" dirty="0"/>
              <a:t>successful sale</a:t>
            </a:r>
            <a:endParaRPr lang="en-GB" sz="1600" dirty="0">
              <a:ea typeface="Calibri"/>
              <a:cs typeface="Calibri"/>
            </a:endParaRPr>
          </a:p>
        </p:txBody>
      </p:sp>
      <p:pic>
        <p:nvPicPr>
          <p:cNvPr id="8" name="Graphic 7" descr="Users with solid fill">
            <a:extLst>
              <a:ext uri="{FF2B5EF4-FFF2-40B4-BE49-F238E27FC236}">
                <a16:creationId xmlns:a16="http://schemas.microsoft.com/office/drawing/2014/main" id="{2F2024C8-E31E-AFA0-1599-1D98E8F3A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9983" y="3702010"/>
            <a:ext cx="457200" cy="457200"/>
          </a:xfrm>
          <a:prstGeom prst="rect">
            <a:avLst/>
          </a:prstGeom>
        </p:spPr>
      </p:pic>
      <p:pic>
        <p:nvPicPr>
          <p:cNvPr id="10" name="Graphic 9" descr="Presentation with checklist with solid fill">
            <a:extLst>
              <a:ext uri="{FF2B5EF4-FFF2-40B4-BE49-F238E27FC236}">
                <a16:creationId xmlns:a16="http://schemas.microsoft.com/office/drawing/2014/main" id="{0ECBA5F4-16E8-A9FF-B6AD-CA66C91583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033" y="3702010"/>
            <a:ext cx="457200" cy="457200"/>
          </a:xfrm>
          <a:prstGeom prst="rect">
            <a:avLst/>
          </a:prstGeom>
        </p:spPr>
      </p:pic>
      <p:pic>
        <p:nvPicPr>
          <p:cNvPr id="12" name="Graphic 11" descr="Target with solid fill">
            <a:extLst>
              <a:ext uri="{FF2B5EF4-FFF2-40B4-BE49-F238E27FC236}">
                <a16:creationId xmlns:a16="http://schemas.microsoft.com/office/drawing/2014/main" id="{17681D29-D760-E4B0-CBD0-BAC6BD86ED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5075" y="2091690"/>
            <a:ext cx="914400" cy="914400"/>
          </a:xfrm>
          <a:prstGeom prst="rect">
            <a:avLst/>
          </a:prstGeom>
        </p:spPr>
      </p:pic>
      <p:pic>
        <p:nvPicPr>
          <p:cNvPr id="18" name="Graphic 17" descr="Brainstorm with solid fill">
            <a:extLst>
              <a:ext uri="{FF2B5EF4-FFF2-40B4-BE49-F238E27FC236}">
                <a16:creationId xmlns:a16="http://schemas.microsoft.com/office/drawing/2014/main" id="{2A7E56E6-AD51-23D8-3520-A5C375DCE4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300" y="2091690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012228-B4BC-4539-49C6-7281755C9A6B}"/>
              </a:ext>
            </a:extLst>
          </p:cNvPr>
          <p:cNvSpPr txBox="1"/>
          <p:nvPr/>
        </p:nvSpPr>
        <p:spPr>
          <a:xfrm>
            <a:off x="4971708" y="3670280"/>
            <a:ext cx="284625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dirty="0">
                <a:solidFill>
                  <a:schemeClr val="accent1"/>
                </a:solidFill>
              </a:rPr>
              <a:t>DATASET</a:t>
            </a:r>
            <a:endParaRPr lang="en-GB" sz="1600">
              <a:solidFill>
                <a:schemeClr val="accent1"/>
              </a:solidFill>
              <a:ea typeface="Calibri"/>
              <a:cs typeface="Calibri"/>
            </a:endParaRPr>
          </a:p>
          <a:p>
            <a:r>
              <a:rPr lang="en-GB" sz="1600" dirty="0"/>
              <a:t>Real-world data from a </a:t>
            </a:r>
            <a:r>
              <a:rPr lang="en-GB" sz="1600" b="1" dirty="0"/>
              <a:t>Portuguese retail bank (2008–2013)</a:t>
            </a:r>
            <a:r>
              <a:rPr lang="en-GB" sz="1600" dirty="0"/>
              <a:t>, including customer demographics, product details, and socio-economic indicators</a:t>
            </a:r>
            <a:endParaRPr lang="en-GB" sz="1600" dirty="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6163EE-F45B-BFAD-6508-717986AB8AC6}"/>
              </a:ext>
            </a:extLst>
          </p:cNvPr>
          <p:cNvSpPr txBox="1"/>
          <p:nvPr/>
        </p:nvSpPr>
        <p:spPr>
          <a:xfrm>
            <a:off x="8847183" y="3670280"/>
            <a:ext cx="2846258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dirty="0">
                <a:solidFill>
                  <a:schemeClr val="accent1"/>
                </a:solidFill>
              </a:rPr>
              <a:t>STAKEHOLDERS</a:t>
            </a:r>
            <a:endParaRPr lang="en-GB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r>
              <a:rPr lang="en-GB" sz="1600" b="1" dirty="0"/>
              <a:t>Marketing and sales teams </a:t>
            </a:r>
            <a:r>
              <a:rPr lang="en-GB" sz="1600" dirty="0"/>
              <a:t>aiming to enhance campaign effectiveness</a:t>
            </a:r>
            <a:endParaRPr lang="en-GB" sz="1600" dirty="0">
              <a:ea typeface="Calibri"/>
              <a:cs typeface="Calibri"/>
            </a:endParaRP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F3D9184B-897E-ECA9-F55D-5B3BB9F1E1EB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4512076" y="3702050"/>
            <a:ext cx="459972" cy="45719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1B7B9CD-BC4B-36B6-261B-A90BABA3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92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8341-8FEC-7DFF-9547-859DAC85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612306-4EFE-9BC8-072B-A620C44AEE97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11327F4-EA7E-0D88-4E64-263916C600B0}"/>
              </a:ext>
            </a:extLst>
          </p:cNvPr>
          <p:cNvSpPr/>
          <p:nvPr/>
        </p:nvSpPr>
        <p:spPr>
          <a:xfrm>
            <a:off x="5962650" y="2091689"/>
            <a:ext cx="5924550" cy="3785651"/>
          </a:xfrm>
          <a:prstGeom prst="roundRect">
            <a:avLst>
              <a:gd name="adj" fmla="val 4033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accent1"/>
                </a:solidFill>
              </a:rPr>
              <a:t>FEATURES &amp; DATA TYPES</a:t>
            </a:r>
          </a:p>
          <a:p>
            <a:endParaRPr lang="en-US" sz="140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Customer Demographics</a:t>
            </a:r>
            <a:endParaRPr lang="en-US" sz="1200" dirty="0">
              <a:solidFill>
                <a:schemeClr val="tx1"/>
              </a:solidFill>
            </a:endParaRPr>
          </a:p>
          <a:p>
            <a:pPr lvl="1"/>
            <a:r>
              <a:rPr lang="en-US" sz="1200" i="1" dirty="0">
                <a:solidFill>
                  <a:schemeClr val="tx1"/>
                </a:solidFill>
              </a:rPr>
              <a:t>Integer - </a:t>
            </a:r>
            <a:r>
              <a:rPr lang="en-US" sz="1200" dirty="0">
                <a:solidFill>
                  <a:schemeClr val="tx1"/>
                </a:solidFill>
              </a:rPr>
              <a:t>age</a:t>
            </a:r>
            <a:endParaRPr lang="en-US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/>
            <a:r>
              <a:rPr lang="en-US" sz="1200" i="1" dirty="0">
                <a:solidFill>
                  <a:schemeClr val="tx1"/>
                </a:solidFill>
              </a:rPr>
              <a:t>Categorical- </a:t>
            </a:r>
            <a:r>
              <a:rPr lang="en-US" sz="1200" dirty="0">
                <a:solidFill>
                  <a:schemeClr val="tx1"/>
                </a:solidFill>
              </a:rPr>
              <a:t>job, marital, education, default, housing, loan </a:t>
            </a:r>
            <a:endParaRPr lang="en-US" sz="1200" i="1" dirty="0">
              <a:solidFill>
                <a:schemeClr val="tx1"/>
              </a:solidFill>
            </a:endParaRPr>
          </a:p>
          <a:p>
            <a:pPr lvl="1"/>
            <a:endParaRPr lang="en-US" sz="120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Campaign Details: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/>
            <a:r>
              <a:rPr lang="en-US" sz="1200" i="1" dirty="0">
                <a:solidFill>
                  <a:schemeClr val="tx1"/>
                </a:solidFill>
              </a:rPr>
              <a:t>Categorical - </a:t>
            </a:r>
            <a:r>
              <a:rPr lang="en-US" sz="1200" dirty="0">
                <a:solidFill>
                  <a:schemeClr val="tx1"/>
                </a:solidFill>
              </a:rPr>
              <a:t>contact, month, </a:t>
            </a:r>
            <a:r>
              <a:rPr lang="en-US" sz="1200" dirty="0" err="1">
                <a:solidFill>
                  <a:schemeClr val="tx1"/>
                </a:solidFill>
              </a:rPr>
              <a:t>day_of_week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/>
            <a:r>
              <a:rPr lang="en-US" sz="1200" i="1" dirty="0">
                <a:solidFill>
                  <a:schemeClr val="tx1"/>
                </a:solidFill>
              </a:rPr>
              <a:t>Integer – </a:t>
            </a:r>
            <a:r>
              <a:rPr lang="en-US" sz="1200" dirty="0">
                <a:solidFill>
                  <a:schemeClr val="tx1"/>
                </a:solidFill>
              </a:rPr>
              <a:t>duration</a:t>
            </a:r>
            <a:endParaRPr lang="en-US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/>
            <a:endParaRPr lang="en-US" sz="120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History: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/>
            <a:r>
              <a:rPr lang="en-US" sz="1200" i="1" dirty="0">
                <a:solidFill>
                  <a:schemeClr val="tx1"/>
                </a:solidFill>
              </a:rPr>
              <a:t>Integer</a:t>
            </a:r>
            <a:r>
              <a:rPr lang="en-US" sz="1200" dirty="0">
                <a:solidFill>
                  <a:schemeClr val="tx1"/>
                </a:solidFill>
              </a:rPr>
              <a:t> - campaign, </a:t>
            </a:r>
            <a:r>
              <a:rPr lang="en-US" sz="1200" dirty="0" err="1">
                <a:solidFill>
                  <a:schemeClr val="tx1"/>
                </a:solidFill>
              </a:rPr>
              <a:t>pdays</a:t>
            </a:r>
            <a:r>
              <a:rPr lang="en-US" sz="1200" dirty="0">
                <a:solidFill>
                  <a:schemeClr val="tx1"/>
                </a:solidFill>
              </a:rPr>
              <a:t>, previous</a:t>
            </a:r>
            <a:endParaRPr lang="en-US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/>
            <a:r>
              <a:rPr lang="en-US" sz="1200" i="1" dirty="0">
                <a:solidFill>
                  <a:schemeClr val="tx1"/>
                </a:solidFill>
              </a:rPr>
              <a:t>Categorical</a:t>
            </a:r>
            <a:r>
              <a:rPr lang="en-US" sz="1200" dirty="0">
                <a:solidFill>
                  <a:schemeClr val="tx1"/>
                </a:solidFill>
              </a:rPr>
              <a:t> – </a:t>
            </a:r>
            <a:r>
              <a:rPr lang="en-US" sz="1200" dirty="0" err="1">
                <a:solidFill>
                  <a:schemeClr val="tx1"/>
                </a:solidFill>
              </a:rPr>
              <a:t>poutcome</a:t>
            </a:r>
            <a:endParaRPr lang="en-US" sz="1200" dirty="0">
              <a:solidFill>
                <a:schemeClr val="tx1"/>
              </a:solidFill>
            </a:endParaRPr>
          </a:p>
          <a:p>
            <a:pPr lvl="1"/>
            <a:endParaRPr lang="en-US" sz="120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Economic Indicators: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1"/>
            <a:r>
              <a:rPr lang="en-US" sz="1200" i="1" dirty="0">
                <a:solidFill>
                  <a:schemeClr val="tx1"/>
                </a:solidFill>
              </a:rPr>
              <a:t>Float - </a:t>
            </a:r>
            <a:r>
              <a:rPr lang="en-US" sz="1200" dirty="0" err="1">
                <a:solidFill>
                  <a:schemeClr val="tx1"/>
                </a:solidFill>
              </a:rPr>
              <a:t>emp_var_rate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 err="1">
                <a:solidFill>
                  <a:schemeClr val="tx1"/>
                </a:solidFill>
              </a:rPr>
              <a:t>cons_price_idx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 err="1">
                <a:solidFill>
                  <a:schemeClr val="tx1"/>
                </a:solidFill>
              </a:rPr>
              <a:t>cons_conf_idx</a:t>
            </a:r>
            <a:r>
              <a:rPr lang="en-US" sz="1200" dirty="0">
                <a:solidFill>
                  <a:schemeClr val="tx1"/>
                </a:solidFill>
              </a:rPr>
              <a:t>, euribor3m, </a:t>
            </a:r>
            <a:r>
              <a:rPr lang="en-US" sz="1200" dirty="0" err="1">
                <a:solidFill>
                  <a:schemeClr val="tx1"/>
                </a:solidFill>
              </a:rPr>
              <a:t>nr_employed</a:t>
            </a:r>
            <a:endParaRPr lang="en-US" sz="1200" dirty="0">
              <a:solidFill>
                <a:schemeClr val="tx1"/>
              </a:solidFill>
            </a:endParaRPr>
          </a:p>
          <a:p>
            <a:pPr lvl="1"/>
            <a:endParaRPr lang="en-US" sz="1200">
              <a:solidFill>
                <a:schemeClr val="tx1"/>
              </a:solidFill>
            </a:endParaRPr>
          </a:p>
          <a:p>
            <a:pPr lvl="1"/>
            <a:endParaRPr lang="en-US" sz="1200">
              <a:solidFill>
                <a:schemeClr val="tx1"/>
              </a:solidFill>
            </a:endParaRPr>
          </a:p>
          <a:p>
            <a:pPr marL="0" lvl="1"/>
            <a:r>
              <a:rPr lang="en-US" sz="1200" b="1" dirty="0">
                <a:solidFill>
                  <a:schemeClr val="tx1"/>
                </a:solidFill>
              </a:rPr>
              <a:t>Note:</a:t>
            </a:r>
            <a:r>
              <a:rPr lang="en-US" sz="1200" dirty="0">
                <a:solidFill>
                  <a:schemeClr val="tx1"/>
                </a:solidFill>
              </a:rPr>
              <a:t> duration excluded from modeling (</a:t>
            </a:r>
            <a:r>
              <a:rPr lang="en-US" sz="1200" u="sng" dirty="0">
                <a:solidFill>
                  <a:schemeClr val="accent1"/>
                </a:solidFill>
              </a:rPr>
              <a:t>data leakage</a:t>
            </a:r>
            <a:r>
              <a:rPr lang="en-US" sz="1200" dirty="0">
                <a:solidFill>
                  <a:schemeClr val="tx1"/>
                </a:solidFill>
              </a:rPr>
              <a:t>)</a:t>
            </a:r>
            <a:endParaRPr lang="en-US" sz="12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4EA95-5148-ED5A-DF91-C3999D809863}"/>
              </a:ext>
            </a:extLst>
          </p:cNvPr>
          <p:cNvSpPr txBox="1"/>
          <p:nvPr/>
        </p:nvSpPr>
        <p:spPr>
          <a:xfrm>
            <a:off x="1295400" y="2091690"/>
            <a:ext cx="4343399" cy="378565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SOURCE</a:t>
            </a:r>
          </a:p>
          <a:p>
            <a:r>
              <a:rPr lang="en-US" sz="1600" b="1" dirty="0"/>
              <a:t>Portuguese retail bank marketing campaigns (2008–2013)</a:t>
            </a:r>
            <a:endParaRPr lang="en-US" sz="1600" b="1" dirty="0">
              <a:ea typeface="Calibri"/>
              <a:cs typeface="Calibri"/>
            </a:endParaRPr>
          </a:p>
          <a:p>
            <a:endParaRPr lang="en-US" sz="1600"/>
          </a:p>
          <a:p>
            <a:endParaRPr lang="en-US" sz="1600"/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SIZE</a:t>
            </a:r>
            <a:endParaRPr lang="en-US" sz="16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US" sz="1600" b="1" dirty="0"/>
              <a:t>41,188</a:t>
            </a:r>
            <a:r>
              <a:rPr lang="en-US" sz="1600" dirty="0"/>
              <a:t> records, </a:t>
            </a:r>
            <a:r>
              <a:rPr lang="en-US" sz="1600" b="1" dirty="0"/>
              <a:t>20</a:t>
            </a:r>
            <a:r>
              <a:rPr lang="en-US" sz="1600" dirty="0"/>
              <a:t> features</a:t>
            </a:r>
            <a:endParaRPr lang="en-US" sz="1600" dirty="0">
              <a:ea typeface="Calibri"/>
              <a:cs typeface="Calibri"/>
            </a:endParaRPr>
          </a:p>
          <a:p>
            <a:endParaRPr lang="en-US" sz="1600"/>
          </a:p>
          <a:p>
            <a:endParaRPr lang="en-US" sz="1600"/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TARGET</a:t>
            </a:r>
            <a:endParaRPr lang="en-US" sz="16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US" sz="1600" dirty="0"/>
              <a:t>y → term deposit subscription: </a:t>
            </a:r>
            <a:r>
              <a:rPr lang="en-US" sz="1600" b="1" dirty="0"/>
              <a:t>YES/NO</a:t>
            </a:r>
            <a:endParaRPr lang="en-US" sz="1600" b="1" dirty="0">
              <a:ea typeface="Calibri"/>
              <a:cs typeface="Calibri"/>
            </a:endParaRPr>
          </a:p>
          <a:p>
            <a:endParaRPr lang="en-US" sz="1600"/>
          </a:p>
          <a:p>
            <a:endParaRPr lang="en-US" sz="1600"/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CLASS IMBALANCE</a:t>
            </a:r>
            <a:endParaRPr lang="en-US" sz="16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US" sz="1600" b="1" dirty="0"/>
              <a:t>Only ~11% positive </a:t>
            </a:r>
            <a:r>
              <a:rPr lang="en-US" sz="1600" dirty="0"/>
              <a:t>responses</a:t>
            </a:r>
            <a:endParaRPr lang="en-US" sz="1600" dirty="0">
              <a:ea typeface="Calibri"/>
              <a:cs typeface="Calibri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BFF639-B561-B94A-2861-6B46BF404422}"/>
              </a:ext>
            </a:extLst>
          </p:cNvPr>
          <p:cNvCxnSpPr>
            <a:cxnSpLocks/>
          </p:cNvCxnSpPr>
          <p:nvPr/>
        </p:nvCxnSpPr>
        <p:spPr>
          <a:xfrm flipV="1">
            <a:off x="2734862" y="3888670"/>
            <a:ext cx="3227788" cy="14110"/>
          </a:xfrm>
          <a:prstGeom prst="line">
            <a:avLst/>
          </a:prstGeom>
          <a:ln>
            <a:solidFill>
              <a:srgbClr val="F9EAD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Server with solid fill">
            <a:extLst>
              <a:ext uri="{FF2B5EF4-FFF2-40B4-BE49-F238E27FC236}">
                <a16:creationId xmlns:a16="http://schemas.microsoft.com/office/drawing/2014/main" id="{1EDF7631-CF43-E066-4193-B041B6181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250" y="3355042"/>
            <a:ext cx="457200" cy="457200"/>
          </a:xfrm>
          <a:prstGeom prst="rect">
            <a:avLst/>
          </a:prstGeom>
        </p:spPr>
      </p:pic>
      <p:pic>
        <p:nvPicPr>
          <p:cNvPr id="27" name="Graphic 26" descr="Scales of justice with solid fill">
            <a:extLst>
              <a:ext uri="{FF2B5EF4-FFF2-40B4-BE49-F238E27FC236}">
                <a16:creationId xmlns:a16="http://schemas.microsoft.com/office/drawing/2014/main" id="{51099C32-DFC9-C58F-A60A-8AED163D2A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250" y="5307180"/>
            <a:ext cx="457200" cy="457200"/>
          </a:xfrm>
          <a:prstGeom prst="rect">
            <a:avLst/>
          </a:prstGeom>
        </p:spPr>
      </p:pic>
      <p:pic>
        <p:nvPicPr>
          <p:cNvPr id="29" name="Graphic 28" descr="Target Audience with solid fill">
            <a:extLst>
              <a:ext uri="{FF2B5EF4-FFF2-40B4-BE49-F238E27FC236}">
                <a16:creationId xmlns:a16="http://schemas.microsoft.com/office/drawing/2014/main" id="{F1798CC9-C7E0-097F-92BC-D24B462F7F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250" y="4335874"/>
            <a:ext cx="457200" cy="457200"/>
          </a:xfrm>
          <a:prstGeom prst="rect">
            <a:avLst/>
          </a:prstGeom>
        </p:spPr>
      </p:pic>
      <p:pic>
        <p:nvPicPr>
          <p:cNvPr id="31" name="Graphic 30" descr="Information with solid fill">
            <a:extLst>
              <a:ext uri="{FF2B5EF4-FFF2-40B4-BE49-F238E27FC236}">
                <a16:creationId xmlns:a16="http://schemas.microsoft.com/office/drawing/2014/main" id="{428E6ED9-7E22-B391-32CF-50930F339A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7250" y="2183710"/>
            <a:ext cx="457200" cy="457200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275BAA9E-7DF7-A551-BAE6-E07C312B2F7F}"/>
              </a:ext>
            </a:extLst>
          </p:cNvPr>
          <p:cNvSpPr txBox="1">
            <a:spLocks/>
          </p:cNvSpPr>
          <p:nvPr/>
        </p:nvSpPr>
        <p:spPr>
          <a:xfrm>
            <a:off x="381000" y="272293"/>
            <a:ext cx="11430000" cy="142887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Our dataset captures the story of customer decisions—41K cases shaped by demographics, campaign history, and economic context.</a:t>
            </a:r>
            <a:endParaRPr lang="pt-PT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F47CC3-62EE-5B06-36C2-EA5598BF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88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421C-0294-7C26-9254-9CF71D70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268917C-CD00-D753-4DAF-8B6DFED9A8FD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81BEC8-6509-1739-5F09-789723FB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66" y="86720"/>
            <a:ext cx="11290867" cy="1510665"/>
          </a:xfrm>
        </p:spPr>
        <p:txBody>
          <a:bodyPr anchor="t"/>
          <a:lstStyle/>
          <a:p>
            <a:pPr algn="l"/>
            <a:r>
              <a:rPr lang="en-GB" dirty="0"/>
              <a:t>MODELLING WORKFLOW: FROM DATA EXPLORATION TO MODEL DEPLOYMENT</a:t>
            </a:r>
            <a:endParaRPr lang="en-GB" dirty="0">
              <a:ea typeface="Calibri Light"/>
              <a:cs typeface="Calibri Light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0082A110-14EA-249F-DD15-AE1DAD59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GB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76BB7E5-87F7-4738-AAA4-47311210E237}"/>
              </a:ext>
            </a:extLst>
          </p:cNvPr>
          <p:cNvGrpSpPr/>
          <p:nvPr/>
        </p:nvGrpSpPr>
        <p:grpSpPr>
          <a:xfrm>
            <a:off x="196144" y="2066925"/>
            <a:ext cx="11802180" cy="4042672"/>
            <a:chOff x="196144" y="2251075"/>
            <a:chExt cx="11802180" cy="4042672"/>
          </a:xfrm>
        </p:grpSpPr>
        <p:sp>
          <p:nvSpPr>
            <p:cNvPr id="122" name="Arrow: Right 121">
              <a:extLst>
                <a:ext uri="{FF2B5EF4-FFF2-40B4-BE49-F238E27FC236}">
                  <a16:creationId xmlns:a16="http://schemas.microsoft.com/office/drawing/2014/main" id="{845BF441-6955-E400-8BBB-353A31253F20}"/>
                </a:ext>
              </a:extLst>
            </p:cNvPr>
            <p:cNvSpPr/>
            <p:nvPr/>
          </p:nvSpPr>
          <p:spPr>
            <a:xfrm>
              <a:off x="196144" y="3913717"/>
              <a:ext cx="11797594" cy="68156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GB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E36F9F5-5A6B-A780-A070-5A6849537345}"/>
                </a:ext>
              </a:extLst>
            </p:cNvPr>
            <p:cNvSpPr/>
            <p:nvPr/>
          </p:nvSpPr>
          <p:spPr>
            <a:xfrm flipH="1">
              <a:off x="7593187" y="3511550"/>
              <a:ext cx="49389" cy="4840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535CDCD-8453-AF7E-C15F-089FDD5D7F9F}"/>
                </a:ext>
              </a:extLst>
            </p:cNvPr>
            <p:cNvSpPr/>
            <p:nvPr/>
          </p:nvSpPr>
          <p:spPr>
            <a:xfrm>
              <a:off x="1342672" y="4075642"/>
              <a:ext cx="361526" cy="362938"/>
            </a:xfrm>
            <a:prstGeom prst="ellipse">
              <a:avLst/>
            </a:prstGeom>
            <a:solidFill>
              <a:srgbClr val="F9EADE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rgbClr val="A53F51"/>
                  </a:solidFill>
                  <a:ea typeface="Calibri"/>
                  <a:cs typeface="Calibri"/>
                </a:rPr>
                <a:t>1</a:t>
              </a:r>
              <a:endParaRPr lang="en-GB" sz="2000" b="1" dirty="0">
                <a:solidFill>
                  <a:srgbClr val="A53F51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C14EC42-ADD4-1ECB-CB06-A2B1986D09E9}"/>
                </a:ext>
              </a:extLst>
            </p:cNvPr>
            <p:cNvSpPr/>
            <p:nvPr/>
          </p:nvSpPr>
          <p:spPr>
            <a:xfrm>
              <a:off x="2085622" y="4075642"/>
              <a:ext cx="361526" cy="362938"/>
            </a:xfrm>
            <a:prstGeom prst="ellipse">
              <a:avLst/>
            </a:prstGeom>
            <a:solidFill>
              <a:srgbClr val="F9EADE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GB" sz="2000" b="1" dirty="0">
                  <a:solidFill>
                    <a:srgbClr val="A53F51"/>
                  </a:solidFill>
                  <a:ea typeface="Calibri"/>
                  <a:cs typeface="Calibri"/>
                </a:rPr>
                <a:t>2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7460A9-BB39-648E-C439-DA4935D766E3}"/>
                </a:ext>
              </a:extLst>
            </p:cNvPr>
            <p:cNvSpPr/>
            <p:nvPr/>
          </p:nvSpPr>
          <p:spPr>
            <a:xfrm>
              <a:off x="4390672" y="4075642"/>
              <a:ext cx="361526" cy="362938"/>
            </a:xfrm>
            <a:prstGeom prst="ellipse">
              <a:avLst/>
            </a:prstGeom>
            <a:solidFill>
              <a:srgbClr val="F9EADE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GB" sz="2000" b="1" dirty="0">
                  <a:solidFill>
                    <a:srgbClr val="A53F51"/>
                  </a:solidFill>
                  <a:ea typeface="Calibri"/>
                  <a:cs typeface="Calibri"/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9E4BF07-4B6A-D118-4C1E-EA4FC85EC5D9}"/>
                </a:ext>
              </a:extLst>
            </p:cNvPr>
            <p:cNvSpPr/>
            <p:nvPr/>
          </p:nvSpPr>
          <p:spPr>
            <a:xfrm>
              <a:off x="5152672" y="4075642"/>
              <a:ext cx="361526" cy="362938"/>
            </a:xfrm>
            <a:prstGeom prst="ellipse">
              <a:avLst/>
            </a:prstGeom>
            <a:solidFill>
              <a:srgbClr val="F9EADE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GB" sz="2000" b="1" dirty="0">
                  <a:solidFill>
                    <a:srgbClr val="A53F51"/>
                  </a:solidFill>
                  <a:ea typeface="Calibri"/>
                  <a:cs typeface="Calibri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2A0F016-C951-0814-7D7B-581EE68B17EC}"/>
                </a:ext>
              </a:extLst>
            </p:cNvPr>
            <p:cNvSpPr/>
            <p:nvPr/>
          </p:nvSpPr>
          <p:spPr>
            <a:xfrm>
              <a:off x="7438672" y="4075642"/>
              <a:ext cx="361526" cy="362938"/>
            </a:xfrm>
            <a:prstGeom prst="ellipse">
              <a:avLst/>
            </a:prstGeom>
            <a:solidFill>
              <a:srgbClr val="F9EADE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GB" sz="2000" b="1" dirty="0">
                  <a:solidFill>
                    <a:srgbClr val="A53F51"/>
                  </a:solidFill>
                  <a:ea typeface="Calibri"/>
                  <a:cs typeface="Calibri"/>
                </a:rPr>
                <a:t>5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D973859-CC53-114A-1FCA-AF91C702F82C}"/>
                </a:ext>
              </a:extLst>
            </p:cNvPr>
            <p:cNvSpPr/>
            <p:nvPr/>
          </p:nvSpPr>
          <p:spPr>
            <a:xfrm>
              <a:off x="8200672" y="4075642"/>
              <a:ext cx="361526" cy="362938"/>
            </a:xfrm>
            <a:prstGeom prst="ellipse">
              <a:avLst/>
            </a:prstGeom>
            <a:solidFill>
              <a:srgbClr val="F9EADE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GB" sz="2000" b="1" dirty="0">
                  <a:solidFill>
                    <a:srgbClr val="A53F51"/>
                  </a:solidFill>
                  <a:ea typeface="Calibri"/>
                  <a:cs typeface="Calibri"/>
                </a:rPr>
                <a:t>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06B867F-6270-351E-919F-8C18DDD1CCA4}"/>
                </a:ext>
              </a:extLst>
            </p:cNvPr>
            <p:cNvSpPr/>
            <p:nvPr/>
          </p:nvSpPr>
          <p:spPr>
            <a:xfrm>
              <a:off x="10486672" y="4075642"/>
              <a:ext cx="361526" cy="362938"/>
            </a:xfrm>
            <a:prstGeom prst="ellipse">
              <a:avLst/>
            </a:prstGeom>
            <a:solidFill>
              <a:srgbClr val="F9EADE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GB" sz="2000" b="1" dirty="0">
                  <a:solidFill>
                    <a:srgbClr val="A53F51"/>
                  </a:solidFill>
                  <a:ea typeface="Calibri"/>
                  <a:cs typeface="Calibri"/>
                </a:rPr>
                <a:t>7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8E70F4-C2C7-F452-F29A-6556E6BD9914}"/>
                </a:ext>
              </a:extLst>
            </p:cNvPr>
            <p:cNvSpPr/>
            <p:nvPr/>
          </p:nvSpPr>
          <p:spPr>
            <a:xfrm flipH="1">
              <a:off x="4545186" y="3511550"/>
              <a:ext cx="49389" cy="4840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E113E-31AC-794E-0FFA-F38A5CFDE143}"/>
                </a:ext>
              </a:extLst>
            </p:cNvPr>
            <p:cNvSpPr/>
            <p:nvPr/>
          </p:nvSpPr>
          <p:spPr>
            <a:xfrm flipH="1">
              <a:off x="1497186" y="3511550"/>
              <a:ext cx="49389" cy="4840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DE296A2-918F-B97C-3E21-0CDDE23B769D}"/>
                </a:ext>
              </a:extLst>
            </p:cNvPr>
            <p:cNvSpPr/>
            <p:nvPr/>
          </p:nvSpPr>
          <p:spPr>
            <a:xfrm flipH="1">
              <a:off x="10641186" y="3511550"/>
              <a:ext cx="49389" cy="4840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DE9ABC-2215-AE89-2900-9A1D06562E52}"/>
                </a:ext>
              </a:extLst>
            </p:cNvPr>
            <p:cNvSpPr/>
            <p:nvPr/>
          </p:nvSpPr>
          <p:spPr>
            <a:xfrm flipH="1">
              <a:off x="2252836" y="4502150"/>
              <a:ext cx="49389" cy="4840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83B35D-B8D5-0AD9-037F-77704D7F586C}"/>
                </a:ext>
              </a:extLst>
            </p:cNvPr>
            <p:cNvSpPr/>
            <p:nvPr/>
          </p:nvSpPr>
          <p:spPr>
            <a:xfrm flipH="1">
              <a:off x="8367886" y="4502150"/>
              <a:ext cx="49389" cy="4840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24B944C-4BFC-57A7-ACCD-5FB7FC4C9DB8}"/>
                </a:ext>
              </a:extLst>
            </p:cNvPr>
            <p:cNvSpPr/>
            <p:nvPr/>
          </p:nvSpPr>
          <p:spPr>
            <a:xfrm flipH="1">
              <a:off x="5307186" y="4527550"/>
              <a:ext cx="49389" cy="4840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49A0E2E-3595-8A7B-49E2-526D93F8A0F6}"/>
                </a:ext>
              </a:extLst>
            </p:cNvPr>
            <p:cNvGrpSpPr/>
            <p:nvPr/>
          </p:nvGrpSpPr>
          <p:grpSpPr>
            <a:xfrm>
              <a:off x="958565" y="4835884"/>
              <a:ext cx="2657759" cy="1457863"/>
              <a:chOff x="114015" y="1794234"/>
              <a:chExt cx="2657759" cy="1457863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CD2983FC-004F-CED7-255C-4A34CBE8B4C8}"/>
                  </a:ext>
                </a:extLst>
              </p:cNvPr>
              <p:cNvSpPr/>
              <p:nvPr/>
            </p:nvSpPr>
            <p:spPr>
              <a:xfrm>
                <a:off x="114015" y="1794234"/>
                <a:ext cx="2657759" cy="1457863"/>
              </a:xfrm>
              <a:prstGeom prst="roundRect">
                <a:avLst>
                  <a:gd name="adj" fmla="val 403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endParaRPr lang="pt-PT" sz="140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19ADC1-5975-722F-75AA-ACD886CA29CD}"/>
                  </a:ext>
                </a:extLst>
              </p:cNvPr>
              <p:cNvSpPr txBox="1"/>
              <p:nvPr/>
            </p:nvSpPr>
            <p:spPr>
              <a:xfrm>
                <a:off x="505177" y="1871038"/>
                <a:ext cx="226412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200" dirty="0">
                    <a:solidFill>
                      <a:schemeClr val="accent1"/>
                    </a:solidFill>
                    <a:ea typeface="+mn-lt"/>
                    <a:cs typeface="+mn-lt"/>
                  </a:rPr>
                  <a:t>Data Cleaning &amp; Preprocessing</a:t>
                </a:r>
                <a:endParaRPr lang="en-GB" dirty="0">
                  <a:solidFill>
                    <a:schemeClr val="accent1"/>
                  </a:solidFill>
                  <a:ea typeface="Calibri"/>
                  <a:cs typeface="Calibri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BFC5874-5F47-796E-BAFB-45E80BA3F2BF}"/>
                  </a:ext>
                </a:extLst>
              </p:cNvPr>
              <p:cNvSpPr txBox="1"/>
              <p:nvPr/>
            </p:nvSpPr>
            <p:spPr>
              <a:xfrm>
                <a:off x="164394" y="2327280"/>
                <a:ext cx="2555522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050" dirty="0">
                    <a:ea typeface="+mn-lt"/>
                    <a:cs typeface="+mn-lt"/>
                  </a:rPr>
                  <a:t>The dataset is standardized by normalizing column names, removing duplicates. This step ensures data quality and prevents leakage in later modelling</a:t>
                </a:r>
                <a:endParaRPr lang="en-US" dirty="0">
                  <a:ea typeface="+mn-lt"/>
                  <a:cs typeface="+mn-lt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EE976118-9E1B-D32C-4C1B-EF9389BBD8E4}"/>
                </a:ext>
              </a:extLst>
            </p:cNvPr>
            <p:cNvGrpSpPr/>
            <p:nvPr/>
          </p:nvGrpSpPr>
          <p:grpSpPr>
            <a:xfrm>
              <a:off x="4044665" y="4835884"/>
              <a:ext cx="2619659" cy="1457863"/>
              <a:chOff x="152115" y="1794234"/>
              <a:chExt cx="2619659" cy="1457863"/>
            </a:xfrm>
          </p:grpSpPr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5376A0B1-BF9A-CAF5-5B3C-E25073DAF446}"/>
                  </a:ext>
                </a:extLst>
              </p:cNvPr>
              <p:cNvSpPr/>
              <p:nvPr/>
            </p:nvSpPr>
            <p:spPr>
              <a:xfrm>
                <a:off x="152115" y="1794234"/>
                <a:ext cx="2619659" cy="1457863"/>
              </a:xfrm>
              <a:prstGeom prst="roundRect">
                <a:avLst>
                  <a:gd name="adj" fmla="val 403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endParaRPr lang="pt-PT" sz="140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E30C228-8A67-9470-263A-A6D8B27F0BDD}"/>
                  </a:ext>
                </a:extLst>
              </p:cNvPr>
              <p:cNvSpPr txBox="1"/>
              <p:nvPr/>
            </p:nvSpPr>
            <p:spPr>
              <a:xfrm>
                <a:off x="505177" y="1871038"/>
                <a:ext cx="226412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200" dirty="0">
                    <a:solidFill>
                      <a:schemeClr val="accent1"/>
                    </a:solidFill>
                    <a:ea typeface="+mn-lt"/>
                    <a:cs typeface="+mn-lt"/>
                  </a:rPr>
                  <a:t>Logistic Regression Modelling</a:t>
                </a:r>
                <a:endParaRPr lang="en-GB" dirty="0">
                  <a:solidFill>
                    <a:schemeClr val="accent1"/>
                  </a:solidFill>
                  <a:ea typeface="Calibri"/>
                  <a:cs typeface="Calibri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8ACD95CA-547D-5AFC-5F7F-035A243DD767}"/>
                  </a:ext>
                </a:extLst>
              </p:cNvPr>
              <p:cNvSpPr txBox="1"/>
              <p:nvPr/>
            </p:nvSpPr>
            <p:spPr>
              <a:xfrm>
                <a:off x="164394" y="2246489"/>
                <a:ext cx="2555522" cy="900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050" dirty="0">
                    <a:ea typeface="+mn-lt"/>
                    <a:cs typeface="+mn-lt"/>
                  </a:rPr>
                  <a:t>We introduce engineered features, WOE encoding, PCA, and SMOTE to improve the logistic model’s ability to separate classes. This model establishes a more realistic approach for the given problem</a:t>
                </a:r>
                <a:endParaRPr lang="en-US" dirty="0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F51B828C-52F0-4415-2852-93DDB51A0304}"/>
                </a:ext>
              </a:extLst>
            </p:cNvPr>
            <p:cNvGrpSpPr/>
            <p:nvPr/>
          </p:nvGrpSpPr>
          <p:grpSpPr>
            <a:xfrm>
              <a:off x="7092665" y="4835884"/>
              <a:ext cx="2619659" cy="1457863"/>
              <a:chOff x="152115" y="1794234"/>
              <a:chExt cx="2619659" cy="1457863"/>
            </a:xfrm>
          </p:grpSpPr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A6626E90-CD7C-B0A1-FA79-8C0FCE5CDD68}"/>
                  </a:ext>
                </a:extLst>
              </p:cNvPr>
              <p:cNvSpPr/>
              <p:nvPr/>
            </p:nvSpPr>
            <p:spPr>
              <a:xfrm>
                <a:off x="152115" y="1794234"/>
                <a:ext cx="2619659" cy="1457863"/>
              </a:xfrm>
              <a:prstGeom prst="roundRect">
                <a:avLst>
                  <a:gd name="adj" fmla="val 403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endParaRPr lang="pt-PT" sz="140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5F5CA97-2624-8E28-17BB-2350EDE50F6E}"/>
                  </a:ext>
                </a:extLst>
              </p:cNvPr>
              <p:cNvSpPr txBox="1"/>
              <p:nvPr/>
            </p:nvSpPr>
            <p:spPr>
              <a:xfrm>
                <a:off x="505177" y="1871038"/>
                <a:ext cx="226412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200" dirty="0">
                    <a:solidFill>
                      <a:schemeClr val="accent1"/>
                    </a:solidFill>
                    <a:ea typeface="+mn-lt"/>
                    <a:cs typeface="+mn-lt"/>
                  </a:rPr>
                  <a:t>Best Model Selection</a:t>
                </a:r>
                <a:endParaRPr lang="en-GB" dirty="0">
                  <a:solidFill>
                    <a:schemeClr val="accent1"/>
                  </a:solidFill>
                  <a:ea typeface="Calibri"/>
                  <a:cs typeface="Calibri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1A78918-1A2B-B2FA-E2DC-59C44ABEC301}"/>
                  </a:ext>
                </a:extLst>
              </p:cNvPr>
              <p:cNvSpPr txBox="1"/>
              <p:nvPr/>
            </p:nvSpPr>
            <p:spPr>
              <a:xfrm>
                <a:off x="164394" y="2408072"/>
                <a:ext cx="2555522" cy="577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050" dirty="0">
                    <a:ea typeface="+mn-lt"/>
                    <a:cs typeface="+mn-lt"/>
                  </a:rPr>
                  <a:t>All models are compared using their F1 scores after threshold tuning, and the best model is selected</a:t>
                </a:r>
                <a:endParaRPr lang="en-GB" sz="1050" dirty="0">
                  <a:ea typeface="Calibri"/>
                  <a:cs typeface="Calibri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815AF1A-0C3E-111D-8795-C5F21962303B}"/>
                </a:ext>
              </a:extLst>
            </p:cNvPr>
            <p:cNvGrpSpPr/>
            <p:nvPr/>
          </p:nvGrpSpPr>
          <p:grpSpPr>
            <a:xfrm>
              <a:off x="196565" y="2251434"/>
              <a:ext cx="2657759" cy="1419763"/>
              <a:chOff x="114015" y="1768834"/>
              <a:chExt cx="2657759" cy="1419763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96F4D3B6-09A6-0A57-3183-68B2B334052C}"/>
                  </a:ext>
                </a:extLst>
              </p:cNvPr>
              <p:cNvSpPr/>
              <p:nvPr/>
            </p:nvSpPr>
            <p:spPr>
              <a:xfrm>
                <a:off x="114015" y="1768834"/>
                <a:ext cx="2657759" cy="1419763"/>
              </a:xfrm>
              <a:prstGeom prst="roundRect">
                <a:avLst>
                  <a:gd name="adj" fmla="val 403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endParaRPr lang="pt-PT" sz="140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8" name="Graphic 7" descr="Magnifying glass with solid fill">
                <a:extLst>
                  <a:ext uri="{FF2B5EF4-FFF2-40B4-BE49-F238E27FC236}">
                    <a16:creationId xmlns:a16="http://schemas.microsoft.com/office/drawing/2014/main" id="{20FD261E-8387-281C-96D1-BF2DF5ED18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61925" y="1819275"/>
                <a:ext cx="365761" cy="3683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1023EC-D408-C802-B4F6-E6FED8804B48}"/>
                  </a:ext>
                </a:extLst>
              </p:cNvPr>
              <p:cNvSpPr txBox="1"/>
              <p:nvPr/>
            </p:nvSpPr>
            <p:spPr>
              <a:xfrm>
                <a:off x="505177" y="1871038"/>
                <a:ext cx="226412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200" dirty="0">
                    <a:solidFill>
                      <a:schemeClr val="accent1"/>
                    </a:solidFill>
                    <a:ea typeface="+mn-lt"/>
                    <a:cs typeface="+mn-lt"/>
                  </a:rPr>
                  <a:t>EDA — Exploratory Data Analysis</a:t>
                </a:r>
                <a:endParaRPr lang="en-GB" sz="1600" dirty="0">
                  <a:solidFill>
                    <a:schemeClr val="accent1"/>
                  </a:solidFill>
                  <a:ea typeface="+mn-lt"/>
                  <a:cs typeface="+mn-lt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2454B8-29FE-562F-ECD2-744F82EF551F}"/>
                  </a:ext>
                </a:extLst>
              </p:cNvPr>
              <p:cNvSpPr txBox="1"/>
              <p:nvPr/>
            </p:nvSpPr>
            <p:spPr>
              <a:xfrm>
                <a:off x="164394" y="2246489"/>
                <a:ext cx="2555522" cy="900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050" dirty="0">
                    <a:ea typeface="+mn-lt"/>
                    <a:cs typeface="+mn-lt"/>
                  </a:rPr>
                  <a:t>Understand customer behaviour, macroeconomic influences, and campaign outcomes through visualizations and statistical analysis. These insights guide feature engineering and model selection</a:t>
                </a:r>
                <a:endParaRPr lang="en-GB" sz="1050" dirty="0">
                  <a:ea typeface="Calibri"/>
                  <a:cs typeface="Calibri"/>
                </a:endParaRP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74DF41ED-61F8-240C-C190-948584DE4F51}"/>
                </a:ext>
              </a:extLst>
            </p:cNvPr>
            <p:cNvGrpSpPr/>
            <p:nvPr/>
          </p:nvGrpSpPr>
          <p:grpSpPr>
            <a:xfrm>
              <a:off x="3244565" y="2251434"/>
              <a:ext cx="2657759" cy="1419763"/>
              <a:chOff x="114015" y="1768834"/>
              <a:chExt cx="2657759" cy="1419763"/>
            </a:xfrm>
          </p:grpSpPr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311CED31-8E52-7696-1A94-2D41A05FBFD7}"/>
                  </a:ext>
                </a:extLst>
              </p:cNvPr>
              <p:cNvSpPr/>
              <p:nvPr/>
            </p:nvSpPr>
            <p:spPr>
              <a:xfrm>
                <a:off x="114015" y="1768834"/>
                <a:ext cx="2657759" cy="1419763"/>
              </a:xfrm>
              <a:prstGeom prst="roundRect">
                <a:avLst>
                  <a:gd name="adj" fmla="val 403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endParaRPr lang="pt-PT" sz="140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C64358D-608D-F0DB-7971-427A4457AE87}"/>
                  </a:ext>
                </a:extLst>
              </p:cNvPr>
              <p:cNvSpPr txBox="1"/>
              <p:nvPr/>
            </p:nvSpPr>
            <p:spPr>
              <a:xfrm>
                <a:off x="505177" y="1871038"/>
                <a:ext cx="226412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200" dirty="0">
                    <a:solidFill>
                      <a:schemeClr val="accent1"/>
                    </a:solidFill>
                    <a:ea typeface="Calibri"/>
                    <a:cs typeface="Calibri"/>
                  </a:rPr>
                  <a:t>Baseline Modelling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AB7F92-8517-6530-67DD-E12CFE30A436}"/>
                  </a:ext>
                </a:extLst>
              </p:cNvPr>
              <p:cNvSpPr txBox="1"/>
              <p:nvPr/>
            </p:nvSpPr>
            <p:spPr>
              <a:xfrm>
                <a:off x="164394" y="2408072"/>
                <a:ext cx="2555522" cy="577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050" dirty="0">
                    <a:ea typeface="+mn-lt"/>
                    <a:cs typeface="+mn-lt"/>
                  </a:rPr>
                  <a:t>A simple logistic regression is fitted with minimal preprocessing to provide a starting point for performance comparison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2494E6AE-3390-F7FE-5F26-17A58D8509BD}"/>
                </a:ext>
              </a:extLst>
            </p:cNvPr>
            <p:cNvGrpSpPr/>
            <p:nvPr/>
          </p:nvGrpSpPr>
          <p:grpSpPr>
            <a:xfrm>
              <a:off x="6292565" y="2251434"/>
              <a:ext cx="2657759" cy="1419763"/>
              <a:chOff x="114015" y="1768834"/>
              <a:chExt cx="2657759" cy="1419763"/>
            </a:xfrm>
          </p:grpSpPr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8B228F66-4E9D-F6DB-DCB7-9CCDBA3CBC1E}"/>
                  </a:ext>
                </a:extLst>
              </p:cNvPr>
              <p:cNvSpPr/>
              <p:nvPr/>
            </p:nvSpPr>
            <p:spPr>
              <a:xfrm>
                <a:off x="114015" y="1768834"/>
                <a:ext cx="2657759" cy="1419763"/>
              </a:xfrm>
              <a:prstGeom prst="roundRect">
                <a:avLst>
                  <a:gd name="adj" fmla="val 403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endParaRPr lang="pt-PT" sz="140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8316377-8EBF-6570-39ED-DF5343E75A85}"/>
                  </a:ext>
                </a:extLst>
              </p:cNvPr>
              <p:cNvSpPr txBox="1"/>
              <p:nvPr/>
            </p:nvSpPr>
            <p:spPr>
              <a:xfrm>
                <a:off x="505177" y="1871038"/>
                <a:ext cx="226412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200" dirty="0" err="1">
                    <a:solidFill>
                      <a:schemeClr val="accent1"/>
                    </a:solidFill>
                    <a:ea typeface="+mn-lt"/>
                    <a:cs typeface="+mn-lt"/>
                  </a:rPr>
                  <a:t>XGBoost</a:t>
                </a:r>
                <a:r>
                  <a:rPr lang="en-GB" sz="1200" dirty="0">
                    <a:solidFill>
                      <a:schemeClr val="accent1"/>
                    </a:solidFill>
                    <a:ea typeface="+mn-lt"/>
                    <a:cs typeface="+mn-lt"/>
                  </a:rPr>
                  <a:t> Modelling</a:t>
                </a:r>
                <a:endParaRPr lang="en-GB" dirty="0">
                  <a:solidFill>
                    <a:schemeClr val="accent1"/>
                  </a:solidFill>
                  <a:ea typeface="+mn-lt"/>
                  <a:cs typeface="+mn-lt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74B3199-C9B5-55FB-2FC5-7510F31DC3B4}"/>
                  </a:ext>
                </a:extLst>
              </p:cNvPr>
              <p:cNvSpPr txBox="1"/>
              <p:nvPr/>
            </p:nvSpPr>
            <p:spPr>
              <a:xfrm>
                <a:off x="164394" y="2236964"/>
                <a:ext cx="2561872" cy="900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050" dirty="0" err="1">
                    <a:ea typeface="+mn-lt"/>
                    <a:cs typeface="+mn-lt"/>
                  </a:rPr>
                  <a:t>XGBoost</a:t>
                </a:r>
                <a:r>
                  <a:rPr lang="en-GB" sz="1050" dirty="0">
                    <a:ea typeface="+mn-lt"/>
                    <a:cs typeface="+mn-lt"/>
                  </a:rPr>
                  <a:t> handles nonlinearities, interactions, and mixed data types effectively. Hyperparameters and SMOTE balancing are optimized to maximize F1 score.</a:t>
                </a:r>
                <a:endParaRPr lang="en-US" dirty="0">
                  <a:ea typeface="+mn-lt"/>
                  <a:cs typeface="+mn-lt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EACA61F-3E89-4682-148B-110B77802AAC}"/>
                </a:ext>
              </a:extLst>
            </p:cNvPr>
            <p:cNvGrpSpPr/>
            <p:nvPr/>
          </p:nvGrpSpPr>
          <p:grpSpPr>
            <a:xfrm>
              <a:off x="9340565" y="2251434"/>
              <a:ext cx="2657759" cy="1419763"/>
              <a:chOff x="9258015" y="2149834"/>
              <a:chExt cx="2657759" cy="1419763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BC37502-5602-C932-55B8-3499DEB66781}"/>
                  </a:ext>
                </a:extLst>
              </p:cNvPr>
              <p:cNvGrpSpPr/>
              <p:nvPr/>
            </p:nvGrpSpPr>
            <p:grpSpPr>
              <a:xfrm>
                <a:off x="9258015" y="2149834"/>
                <a:ext cx="2657759" cy="1419763"/>
                <a:chOff x="9258015" y="2149834"/>
                <a:chExt cx="2657759" cy="1419763"/>
              </a:xfrm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A569AD19-0555-5013-D4C5-C8AE017B8E81}"/>
                    </a:ext>
                  </a:extLst>
                </p:cNvPr>
                <p:cNvSpPr/>
                <p:nvPr/>
              </p:nvSpPr>
              <p:spPr>
                <a:xfrm>
                  <a:off x="9258015" y="2149834"/>
                  <a:ext cx="2657759" cy="1419763"/>
                </a:xfrm>
                <a:prstGeom prst="roundRect">
                  <a:avLst>
                    <a:gd name="adj" fmla="val 4033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t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pt-PT" sz="140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4" name="TextBox 109">
                  <a:extLst>
                    <a:ext uri="{FF2B5EF4-FFF2-40B4-BE49-F238E27FC236}">
                      <a16:creationId xmlns:a16="http://schemas.microsoft.com/office/drawing/2014/main" id="{9D2A0AA3-0BBA-7786-6000-590EBA212524}"/>
                    </a:ext>
                  </a:extLst>
                </p:cNvPr>
                <p:cNvSpPr txBox="1"/>
                <p:nvPr/>
              </p:nvSpPr>
              <p:spPr>
                <a:xfrm>
                  <a:off x="9649177" y="2252038"/>
                  <a:ext cx="226412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200" dirty="0">
                      <a:solidFill>
                        <a:schemeClr val="accent1"/>
                      </a:solidFill>
                      <a:ea typeface="+mn-lt"/>
                      <a:cs typeface="+mn-lt"/>
                    </a:rPr>
                    <a:t>Deployment to Hugging Face</a:t>
                  </a:r>
                  <a:endParaRPr lang="en-GB" dirty="0">
                    <a:solidFill>
                      <a:schemeClr val="accent1"/>
                    </a:solidFill>
                    <a:ea typeface="Calibri"/>
                    <a:cs typeface="Calibri"/>
                  </a:endParaRPr>
                </a:p>
              </p:txBody>
            </p:sp>
            <p:sp>
              <p:nvSpPr>
                <p:cNvPr id="25" name="TextBox 110">
                  <a:extLst>
                    <a:ext uri="{FF2B5EF4-FFF2-40B4-BE49-F238E27FC236}">
                      <a16:creationId xmlns:a16="http://schemas.microsoft.com/office/drawing/2014/main" id="{ACF24A9A-DF1C-034B-F0A6-1F33A7875D92}"/>
                    </a:ext>
                  </a:extLst>
                </p:cNvPr>
                <p:cNvSpPr txBox="1"/>
                <p:nvPr/>
              </p:nvSpPr>
              <p:spPr>
                <a:xfrm>
                  <a:off x="9308679" y="2671238"/>
                  <a:ext cx="2555522" cy="7386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050" dirty="0">
                      <a:ea typeface="+mn-lt"/>
                      <a:cs typeface="+mn-lt"/>
                    </a:rPr>
                    <a:t>The selected model is wrapped inside a </a:t>
                  </a:r>
                  <a:r>
                    <a:rPr lang="en-GB" sz="1050" dirty="0" err="1">
                      <a:ea typeface="+mn-lt"/>
                      <a:cs typeface="+mn-lt"/>
                    </a:rPr>
                    <a:t>Gradio</a:t>
                  </a:r>
                  <a:r>
                    <a:rPr lang="en-GB" sz="1050" dirty="0">
                      <a:ea typeface="+mn-lt"/>
                      <a:cs typeface="+mn-lt"/>
                    </a:rPr>
                    <a:t> application and deployed to a Hugging Face Space, providing an intuitive interface for real-time predictions </a:t>
                  </a:r>
                  <a:endParaRPr lang="en-GB" sz="1050" dirty="0">
                    <a:ea typeface="Calibri"/>
                    <a:cs typeface="Calibri"/>
                  </a:endParaRPr>
                </a:p>
              </p:txBody>
            </p:sp>
          </p:grpSp>
          <p:pic>
            <p:nvPicPr>
              <p:cNvPr id="131" name="Graphic 130" descr="Hugging Face's logo">
                <a:extLst>
                  <a:ext uri="{FF2B5EF4-FFF2-40B4-BE49-F238E27FC236}">
                    <a16:creationId xmlns:a16="http://schemas.microsoft.com/office/drawing/2014/main" id="{56B38945-D3A1-BDB6-74C1-F73356545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15291" y="2171700"/>
                <a:ext cx="396875" cy="365761"/>
              </a:xfrm>
              <a:prstGeom prst="rect">
                <a:avLst/>
              </a:prstGeom>
            </p:spPr>
          </p:pic>
        </p:grpSp>
        <p:pic>
          <p:nvPicPr>
            <p:cNvPr id="30" name="Picture 29" descr="A red symbol with circles and dots&#10;&#10;AI-generated content may be incorrect.">
              <a:extLst>
                <a:ext uri="{FF2B5EF4-FFF2-40B4-BE49-F238E27FC236}">
                  <a16:creationId xmlns:a16="http://schemas.microsoft.com/office/drawing/2014/main" id="{A6BD9050-0FE2-CA5D-4C88-EBEE05602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02375" y="2251075"/>
              <a:ext cx="457204" cy="457200"/>
            </a:xfrm>
            <a:prstGeom prst="rect">
              <a:avLst/>
            </a:prstGeom>
          </p:spPr>
        </p:pic>
        <p:pic>
          <p:nvPicPr>
            <p:cNvPr id="31" name="Picture 30" descr="A red trophy cup on a black background&#10;&#10;AI-generated content may be incorrect.">
              <a:extLst>
                <a:ext uri="{FF2B5EF4-FFF2-40B4-BE49-F238E27FC236}">
                  <a16:creationId xmlns:a16="http://schemas.microsoft.com/office/drawing/2014/main" id="{4DB5049E-ABB7-551D-9DC7-98BEE17E6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89775" y="4829175"/>
              <a:ext cx="457200" cy="457204"/>
            </a:xfrm>
            <a:prstGeom prst="rect">
              <a:avLst/>
            </a:prstGeom>
          </p:spPr>
        </p:pic>
        <p:pic>
          <p:nvPicPr>
            <p:cNvPr id="32" name="Picture 31" descr="A red and black logo&#10;&#10;AI-generated content may be incorrect.">
              <a:extLst>
                <a:ext uri="{FF2B5EF4-FFF2-40B4-BE49-F238E27FC236}">
                  <a16:creationId xmlns:a16="http://schemas.microsoft.com/office/drawing/2014/main" id="{8BFA3D96-510C-AF50-8CB0-F8FA59F84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67075" y="2251075"/>
              <a:ext cx="457200" cy="457204"/>
            </a:xfrm>
            <a:prstGeom prst="rect">
              <a:avLst/>
            </a:prstGeom>
          </p:spPr>
        </p:pic>
        <p:pic>
          <p:nvPicPr>
            <p:cNvPr id="33" name="Picture 32" descr="A red line with dots&#10;&#10;AI-generated content may be incorrect.">
              <a:extLst>
                <a:ext uri="{FF2B5EF4-FFF2-40B4-BE49-F238E27FC236}">
                  <a16:creationId xmlns:a16="http://schemas.microsoft.com/office/drawing/2014/main" id="{D5D53D3F-DD54-8902-1CC8-B0EAC6C93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041775" y="4835525"/>
              <a:ext cx="457200" cy="457204"/>
            </a:xfrm>
            <a:prstGeom prst="rect">
              <a:avLst/>
            </a:prstGeom>
          </p:spPr>
        </p:pic>
        <p:pic>
          <p:nvPicPr>
            <p:cNvPr id="34" name="Picture 33" descr="A mop and bucket with a black background&#10;&#10;AI-generated content may be incorrect.">
              <a:extLst>
                <a:ext uri="{FF2B5EF4-FFF2-40B4-BE49-F238E27FC236}">
                  <a16:creationId xmlns:a16="http://schemas.microsoft.com/office/drawing/2014/main" id="{2F94227E-AC06-7B0B-5BC3-49CCF60C7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4575" y="4854575"/>
              <a:ext cx="368300" cy="365765"/>
            </a:xfrm>
            <a:prstGeom prst="rect">
              <a:avLst/>
            </a:prstGeom>
          </p:spPr>
        </p:pic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3210E5E-B086-9EF8-5CD4-B9E2FF7D81F4}"/>
                </a:ext>
              </a:extLst>
            </p:cNvPr>
            <p:cNvSpPr/>
            <p:nvPr/>
          </p:nvSpPr>
          <p:spPr>
            <a:xfrm>
              <a:off x="10127965" y="4810485"/>
              <a:ext cx="1629059" cy="1457863"/>
            </a:xfrm>
            <a:prstGeom prst="roundRect">
              <a:avLst>
                <a:gd name="adj" fmla="val 4033"/>
              </a:avLst>
            </a:prstGeom>
            <a:solidFill>
              <a:schemeClr val="accent1"/>
            </a:solidFill>
            <a:ln w="9525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endParaRPr lang="pt-PT" sz="1200" dirty="0">
                <a:solidFill>
                  <a:schemeClr val="accent5"/>
                </a:solidFill>
                <a:ea typeface="Calibri"/>
                <a:cs typeface="Calibri"/>
              </a:endParaRPr>
            </a:p>
            <a:p>
              <a:endParaRPr lang="pt-PT" sz="1200" dirty="0">
                <a:solidFill>
                  <a:schemeClr val="accent5"/>
                </a:solidFill>
                <a:ea typeface="Calibri"/>
                <a:cs typeface="Calibri"/>
              </a:endParaRPr>
            </a:p>
            <a:p>
              <a:pPr algn="ctr"/>
              <a:endParaRPr lang="pt-PT" sz="1200" dirty="0">
                <a:solidFill>
                  <a:schemeClr val="accent5"/>
                </a:solidFill>
                <a:ea typeface="Calibri"/>
                <a:cs typeface="Calibri"/>
              </a:endParaRPr>
            </a:p>
            <a:p>
              <a:pPr algn="ctr"/>
              <a:r>
                <a:rPr lang="pt-PT" sz="1200" err="1">
                  <a:solidFill>
                    <a:schemeClr val="bg1"/>
                  </a:solidFill>
                  <a:ea typeface="Calibri"/>
                  <a:cs typeface="Calibri"/>
                </a:rPr>
                <a:t>Code</a:t>
              </a:r>
              <a:r>
                <a:rPr lang="pt-PT" sz="1200" dirty="0">
                  <a:solidFill>
                    <a:schemeClr val="bg1"/>
                  </a:solidFill>
                  <a:ea typeface="Calibri"/>
                  <a:cs typeface="Calibri"/>
                </a:rPr>
                <a:t> </a:t>
              </a:r>
              <a:r>
                <a:rPr lang="pt-PT" sz="1200" err="1">
                  <a:solidFill>
                    <a:schemeClr val="bg1"/>
                  </a:solidFill>
                  <a:ea typeface="Calibri"/>
                  <a:cs typeface="Calibri"/>
                </a:rPr>
                <a:t>and</a:t>
              </a:r>
              <a:r>
                <a:rPr lang="pt-PT" sz="1200" dirty="0">
                  <a:solidFill>
                    <a:schemeClr val="bg1"/>
                  </a:solidFill>
                  <a:ea typeface="Calibri"/>
                  <a:cs typeface="Calibri"/>
                </a:rPr>
                <a:t> </a:t>
              </a:r>
              <a:r>
                <a:rPr lang="pt-PT" sz="1200" err="1">
                  <a:solidFill>
                    <a:schemeClr val="bg1"/>
                  </a:solidFill>
                  <a:ea typeface="Calibri"/>
                  <a:cs typeface="Calibri"/>
                </a:rPr>
                <a:t>support</a:t>
              </a:r>
              <a:r>
                <a:rPr lang="pt-PT" sz="1200" dirty="0">
                  <a:solidFill>
                    <a:schemeClr val="bg1"/>
                  </a:solidFill>
                  <a:ea typeface="Calibri"/>
                  <a:cs typeface="Calibri"/>
                </a:rPr>
                <a:t> files  </a:t>
              </a:r>
              <a:r>
                <a:rPr lang="pt-PT" sz="1200" err="1">
                  <a:solidFill>
                    <a:schemeClr val="bg1"/>
                  </a:solidFill>
                  <a:ea typeface="Calibri"/>
                  <a:cs typeface="Calibri"/>
                </a:rPr>
                <a:t>deployed</a:t>
              </a:r>
              <a:r>
                <a:rPr lang="pt-PT" sz="1200" dirty="0">
                  <a:solidFill>
                    <a:schemeClr val="bg1"/>
                  </a:solidFill>
                  <a:ea typeface="Calibri"/>
                  <a:cs typeface="Calibri"/>
                </a:rPr>
                <a:t> </a:t>
              </a:r>
              <a:r>
                <a:rPr lang="pt-PT" sz="1200" err="1">
                  <a:solidFill>
                    <a:schemeClr val="bg1"/>
                  </a:solidFill>
                  <a:ea typeface="Calibri"/>
                  <a:cs typeface="Calibri"/>
                </a:rPr>
                <a:t>using</a:t>
              </a:r>
              <a:r>
                <a:rPr lang="pt-PT" sz="1200" dirty="0">
                  <a:solidFill>
                    <a:schemeClr val="bg1"/>
                  </a:solidFill>
                  <a:ea typeface="Calibri"/>
                  <a:cs typeface="Calibri"/>
                </a:rPr>
                <a:t> GIT (GIT </a:t>
              </a:r>
              <a:r>
                <a:rPr lang="pt-PT" sz="1200" err="1">
                  <a:solidFill>
                    <a:schemeClr val="bg1"/>
                  </a:solidFill>
                  <a:ea typeface="Calibri"/>
                  <a:cs typeface="Calibri"/>
                </a:rPr>
                <a:t>Hub</a:t>
              </a:r>
              <a:r>
                <a:rPr lang="pt-PT" sz="1200" dirty="0">
                  <a:solidFill>
                    <a:schemeClr val="bg1"/>
                  </a:solidFill>
                  <a:ea typeface="Calibri"/>
                  <a:cs typeface="Calibri"/>
                </a:rPr>
                <a:t>)</a:t>
              </a:r>
            </a:p>
            <a:p>
              <a:pPr algn="ctr"/>
              <a:endParaRPr lang="pt-PT" sz="12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pic>
          <p:nvPicPr>
            <p:cNvPr id="41" name="Picture 40" descr="A red and black sign&#10;&#10;AI-generated content may be incorrect.">
              <a:extLst>
                <a:ext uri="{FF2B5EF4-FFF2-40B4-BE49-F238E27FC236}">
                  <a16:creationId xmlns:a16="http://schemas.microsoft.com/office/drawing/2014/main" id="{6E5EE399-D1F0-787C-CBEE-4E2544EFA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687050" y="4908550"/>
              <a:ext cx="476250" cy="450850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3D2A568-1D52-3AEC-4193-88ECB621D56D}"/>
                </a:ext>
              </a:extLst>
            </p:cNvPr>
            <p:cNvSpPr/>
            <p:nvPr/>
          </p:nvSpPr>
          <p:spPr>
            <a:xfrm flipH="1">
              <a:off x="10888836" y="4425950"/>
              <a:ext cx="49389" cy="484011"/>
            </a:xfrm>
            <a:prstGeom prst="rect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294F75E-C654-3067-5422-894F2587D2E2}"/>
              </a:ext>
            </a:extLst>
          </p:cNvPr>
          <p:cNvSpPr txBox="1"/>
          <p:nvPr/>
        </p:nvSpPr>
        <p:spPr>
          <a:xfrm>
            <a:off x="10215327" y="6103593"/>
            <a:ext cx="1471189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dirty="0">
                <a:hlinkClick r:id="rId13"/>
              </a:rPr>
              <a:t>20241143/EDSB_25_28</a:t>
            </a:r>
            <a:endParaRPr lang="en-US" sz="10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2900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43E5-BD13-71A4-BECC-99AF1E9C2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EE62ACF-21EE-B82E-28A3-BF05FFDB503F}"/>
              </a:ext>
            </a:extLst>
          </p:cNvPr>
          <p:cNvSpPr/>
          <p:nvPr/>
        </p:nvSpPr>
        <p:spPr>
          <a:xfrm>
            <a:off x="450565" y="5076824"/>
            <a:ext cx="5102510" cy="933451"/>
          </a:xfrm>
          <a:prstGeom prst="roundRect">
            <a:avLst>
              <a:gd name="adj" fmla="val 4033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B7354E4-4468-E39C-74D3-CDAEC34A2D68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83EE5-1FD0-FD13-1C7F-25285AC72CF1}"/>
              </a:ext>
            </a:extLst>
          </p:cNvPr>
          <p:cNvSpPr txBox="1"/>
          <p:nvPr/>
        </p:nvSpPr>
        <p:spPr>
          <a:xfrm>
            <a:off x="450565" y="1966281"/>
            <a:ext cx="5493035" cy="4447371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400050"/>
            <a:r>
              <a:rPr lang="en-GB" b="1">
                <a:solidFill>
                  <a:schemeClr val="accent1"/>
                </a:solidFill>
              </a:rPr>
              <a:t>EDA KEY FINDINGS</a:t>
            </a:r>
            <a:endParaRPr lang="en-GB" b="1">
              <a:solidFill>
                <a:schemeClr val="accent1"/>
              </a:solidFill>
              <a:ea typeface="Calibri"/>
              <a:cs typeface="Calibri"/>
            </a:endParaRPr>
          </a:p>
          <a:p>
            <a:endParaRPr lang="en-GB" sz="9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GB" sz="1200">
                <a:solidFill>
                  <a:schemeClr val="accent2">
                    <a:lumMod val="75000"/>
                  </a:schemeClr>
                </a:solidFill>
              </a:rPr>
              <a:t>ECONOMIC INDICATORS</a:t>
            </a:r>
            <a:endParaRPr lang="en-GB" sz="120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Strong correlation among macroeconomic variables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Different scales require normalization</a:t>
            </a:r>
            <a:endParaRPr lang="en-GB" sz="1400" dirty="0">
              <a:ea typeface="Calibri"/>
              <a:cs typeface="Calibri"/>
            </a:endParaRPr>
          </a:p>
          <a:p>
            <a:endParaRPr lang="en-GB" sz="14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GB" sz="1200" dirty="0">
                <a:solidFill>
                  <a:schemeClr val="accent2">
                    <a:lumMod val="75000"/>
                  </a:schemeClr>
                </a:solidFill>
              </a:rPr>
              <a:t>NUMERICAL FEATURES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High skewness and outliers</a:t>
            </a:r>
            <a:r>
              <a:rPr lang="en-GB" sz="1400" dirty="0"/>
              <a:t> in age, campaign, previous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pdays</a:t>
            </a:r>
            <a:r>
              <a:rPr lang="en-GB" sz="1400" b="1" dirty="0"/>
              <a:t> behaves as binary </a:t>
            </a:r>
            <a:r>
              <a:rPr lang="en-GB" sz="1400" dirty="0"/>
              <a:t>(mostly 999)</a:t>
            </a:r>
            <a:endParaRPr lang="en-GB" sz="1400" dirty="0">
              <a:ea typeface="Calibri"/>
              <a:cs typeface="Calibri"/>
            </a:endParaRPr>
          </a:p>
          <a:p>
            <a:endParaRPr lang="en-GB" sz="1400" dirty="0">
              <a:ea typeface="Calibri"/>
              <a:cs typeface="Calibri"/>
            </a:endParaRPr>
          </a:p>
          <a:p>
            <a:r>
              <a:rPr lang="en-GB" sz="1200" dirty="0">
                <a:solidFill>
                  <a:schemeClr val="accent2">
                    <a:lumMod val="75000"/>
                  </a:schemeClr>
                </a:solidFill>
              </a:rPr>
              <a:t>FEATURE IMPORTANCE</a:t>
            </a:r>
            <a:endParaRPr lang="en-GB" sz="12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duration leaks target → </a:t>
            </a:r>
            <a:r>
              <a:rPr lang="en-GB" sz="1400" b="1" u="sng" dirty="0">
                <a:solidFill>
                  <a:schemeClr val="accent1"/>
                </a:solidFill>
              </a:rPr>
              <a:t>removed</a:t>
            </a:r>
            <a:endParaRPr lang="en-GB" sz="1400" dirty="0">
              <a:solidFill>
                <a:schemeClr val="accent1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month shows seasonality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poutcome</a:t>
            </a:r>
            <a:r>
              <a:rPr lang="en-GB" sz="1400" b="1" dirty="0"/>
              <a:t> strongly predicts success</a:t>
            </a:r>
            <a:endParaRPr lang="en-GB" sz="1400" dirty="0">
              <a:ea typeface="Calibri"/>
              <a:cs typeface="Calibri"/>
            </a:endParaRPr>
          </a:p>
          <a:p>
            <a:endParaRPr lang="en-GB" sz="1400" dirty="0">
              <a:ea typeface="Calibri"/>
              <a:cs typeface="Calibri"/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HIGH CLASS-IMBALANCE PROBLEM</a:t>
            </a:r>
            <a:endParaRPr lang="en-GB" sz="1600" b="1" dirty="0">
              <a:solidFill>
                <a:schemeClr val="accent1"/>
              </a:solidFill>
              <a:ea typeface="Calibri"/>
              <a:cs typeface="Calibri"/>
            </a:endParaRPr>
          </a:p>
          <a:p>
            <a:r>
              <a:rPr lang="en-GB" sz="1400" b="1" dirty="0"/>
              <a:t>'No' </a:t>
            </a:r>
            <a:r>
              <a:rPr lang="en-GB" sz="1400" dirty="0"/>
              <a:t>is the dominant class (almost  90%) </a:t>
            </a:r>
            <a:r>
              <a:rPr lang="en-GB" sz="1400" dirty="0">
                <a:sym typeface="Wingdings" panose="05000000000000000000" pitchFamily="2" charset="2"/>
              </a:rPr>
              <a:t> </a:t>
            </a:r>
            <a:r>
              <a:rPr lang="en-GB" sz="1400" b="1" dirty="0">
                <a:sym typeface="Wingdings" panose="05000000000000000000" pitchFamily="2" charset="2"/>
              </a:rPr>
              <a:t>F1 score and use of Resampling Techniques (SMOTE)</a:t>
            </a:r>
            <a:endParaRPr lang="en-GB" sz="1400" b="1" dirty="0">
              <a:ea typeface="Calibri"/>
              <a:cs typeface="Calibri"/>
            </a:endParaRPr>
          </a:p>
          <a:p>
            <a:endParaRPr lang="en-GB" sz="1400" dirty="0">
              <a:ea typeface="Calibri"/>
              <a:cs typeface="Calibri"/>
            </a:endParaRPr>
          </a:p>
          <a:p>
            <a:endParaRPr lang="en-GB" sz="16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5CB6F0-81B2-C328-E5EC-B5DF1AEED276}"/>
              </a:ext>
            </a:extLst>
          </p:cNvPr>
          <p:cNvSpPr txBox="1"/>
          <p:nvPr/>
        </p:nvSpPr>
        <p:spPr>
          <a:xfrm>
            <a:off x="6247277" y="1966281"/>
            <a:ext cx="5493720" cy="437042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indent="400050"/>
            <a:r>
              <a:rPr lang="en-GB" b="1" dirty="0">
                <a:solidFill>
                  <a:schemeClr val="accent1"/>
                </a:solidFill>
              </a:rPr>
              <a:t>PREPROCESSING &amp; FEATURE ENGINEERING</a:t>
            </a:r>
            <a:endParaRPr lang="en-GB" b="1" dirty="0">
              <a:solidFill>
                <a:schemeClr val="accent1"/>
              </a:solidFill>
              <a:ea typeface="Calibri"/>
              <a:cs typeface="Calibri"/>
            </a:endParaRPr>
          </a:p>
          <a:p>
            <a:endParaRPr lang="en-GB" sz="16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GB" sz="1200" dirty="0">
                <a:solidFill>
                  <a:schemeClr val="accent2">
                    <a:lumMod val="75000"/>
                  </a:schemeClr>
                </a:solidFill>
              </a:rPr>
              <a:t>ECONOMIC INDICATORS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Applied PCA</a:t>
            </a:r>
            <a:r>
              <a:rPr lang="en-GB" sz="1400" dirty="0"/>
              <a:t> → 2 components were kept </a:t>
            </a:r>
            <a:r>
              <a:rPr lang="en-GB" sz="1400" dirty="0">
                <a:ea typeface="+mn-lt"/>
                <a:cs typeface="+mn-lt"/>
              </a:rPr>
              <a:t>to reduce multicollinearity</a:t>
            </a:r>
            <a:endParaRPr lang="en-GB" sz="1400" dirty="0">
              <a:ea typeface="Calibri"/>
              <a:cs typeface="Calibri"/>
            </a:endParaRPr>
          </a:p>
          <a:p>
            <a:endParaRPr lang="en-GB" sz="1400" dirty="0">
              <a:ea typeface="Calibri"/>
              <a:cs typeface="Calibri"/>
            </a:endParaRPr>
          </a:p>
          <a:p>
            <a:r>
              <a:rPr lang="en-GB" sz="1200" dirty="0">
                <a:solidFill>
                  <a:schemeClr val="accent2">
                    <a:lumMod val="75000"/>
                  </a:schemeClr>
                </a:solidFill>
              </a:rPr>
              <a:t>NUMERIC TRANSFORMATIONS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/>
              <a:t>pdays</a:t>
            </a:r>
            <a:r>
              <a:rPr lang="en-GB" sz="1400" dirty="0"/>
              <a:t> → </a:t>
            </a:r>
            <a:r>
              <a:rPr lang="en-GB" sz="1400" b="1" dirty="0"/>
              <a:t>binary feature</a:t>
            </a:r>
            <a:endParaRPr lang="en-GB" sz="1400" b="1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month &amp; </a:t>
            </a:r>
            <a:r>
              <a:rPr lang="en-GB" sz="1400" dirty="0" err="1"/>
              <a:t>day_of_week</a:t>
            </a:r>
            <a:r>
              <a:rPr lang="en-GB" sz="1400" dirty="0"/>
              <a:t> → </a:t>
            </a:r>
            <a:r>
              <a:rPr lang="en-GB" sz="1400" b="1" dirty="0"/>
              <a:t>cyclical encoding</a:t>
            </a:r>
            <a:endParaRPr lang="en-GB" sz="1400" dirty="0">
              <a:ea typeface="Calibri"/>
              <a:cs typeface="Calibri"/>
            </a:endParaRPr>
          </a:p>
          <a:p>
            <a:endParaRPr lang="en-GB" sz="1400" dirty="0">
              <a:ea typeface="Calibri"/>
              <a:cs typeface="Calibri"/>
            </a:endParaRPr>
          </a:p>
          <a:p>
            <a:r>
              <a:rPr lang="en-GB" sz="1200" dirty="0">
                <a:solidFill>
                  <a:schemeClr val="accent2">
                    <a:lumMod val="75000"/>
                  </a:schemeClr>
                </a:solidFill>
              </a:rPr>
              <a:t>CATEGORICAL HANDLING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Reduced cardinality </a:t>
            </a:r>
            <a:r>
              <a:rPr lang="en-GB" sz="1400" dirty="0"/>
              <a:t>(job: 11→7, education: 7→5)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Imputed missing values</a:t>
            </a:r>
            <a:r>
              <a:rPr lang="en-GB" sz="1400" b="1" dirty="0"/>
              <a:t> </a:t>
            </a:r>
            <a:r>
              <a:rPr lang="en-GB" sz="1400" dirty="0"/>
              <a:t>→ </a:t>
            </a:r>
            <a:r>
              <a:rPr lang="en-GB" sz="1400" b="1" dirty="0"/>
              <a:t>mean; median; mode</a:t>
            </a:r>
            <a:endParaRPr lang="en-GB" sz="1400" b="1" u="sng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/>
              <a:t>Enconding</a:t>
            </a:r>
            <a:r>
              <a:rPr lang="en-GB" sz="1400" dirty="0"/>
              <a:t> → </a:t>
            </a:r>
            <a:r>
              <a:rPr lang="en-GB" sz="1400" b="1" dirty="0"/>
              <a:t>WOE encoder</a:t>
            </a:r>
            <a:endParaRPr lang="en-GB" sz="1400" b="1" dirty="0">
              <a:ea typeface="Calibri"/>
              <a:cs typeface="Calibri"/>
            </a:endParaRPr>
          </a:p>
          <a:p>
            <a:endParaRPr lang="en-GB" sz="1400" dirty="0">
              <a:ea typeface="Calibri"/>
              <a:cs typeface="Calibri"/>
            </a:endParaRPr>
          </a:p>
          <a:p>
            <a:r>
              <a:rPr lang="en-GB" sz="1200" dirty="0">
                <a:solidFill>
                  <a:schemeClr val="accent2">
                    <a:lumMod val="75000"/>
                  </a:schemeClr>
                </a:solidFill>
              </a:rPr>
              <a:t>NEW FEATURES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age × marital → interaction effect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job × age → proxy for career stage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/>
              <a:t>campaign_log</a:t>
            </a:r>
            <a:r>
              <a:rPr lang="en-GB" sz="1400" dirty="0"/>
              <a:t> → log transformation of campaign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/>
              <a:t>contacts_ratio</a:t>
            </a:r>
            <a:r>
              <a:rPr lang="en-GB" sz="1400" dirty="0"/>
              <a:t> → ratio of contacts to previous</a:t>
            </a:r>
            <a:endParaRPr lang="en-GB" sz="1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/>
              <a:t>economic_volatility</a:t>
            </a:r>
            <a:r>
              <a:rPr lang="en-GB" sz="1400" dirty="0"/>
              <a:t> → combined macroeconomic variability</a:t>
            </a:r>
            <a:endParaRPr lang="en-GB" sz="1400" dirty="0">
              <a:ea typeface="Calibri"/>
              <a:cs typeface="Calibri"/>
            </a:endParaRPr>
          </a:p>
        </p:txBody>
      </p:sp>
      <p:pic>
        <p:nvPicPr>
          <p:cNvPr id="20" name="Graphic 19" descr="Wrench with solid fill">
            <a:extLst>
              <a:ext uri="{FF2B5EF4-FFF2-40B4-BE49-F238E27FC236}">
                <a16:creationId xmlns:a16="http://schemas.microsoft.com/office/drawing/2014/main" id="{51B9A271-F826-73D7-ADA8-614BECF1A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277" y="1966279"/>
            <a:ext cx="426575" cy="426575"/>
          </a:xfrm>
          <a:prstGeom prst="rect">
            <a:avLst/>
          </a:prstGeom>
        </p:spPr>
      </p:pic>
      <p:pic>
        <p:nvPicPr>
          <p:cNvPr id="24" name="Graphic 23" descr="Magnifying glass with solid fill">
            <a:extLst>
              <a:ext uri="{FF2B5EF4-FFF2-40B4-BE49-F238E27FC236}">
                <a16:creationId xmlns:a16="http://schemas.microsoft.com/office/drawing/2014/main" id="{CBDCE91B-9FCF-AB81-7C25-731FDD9043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565" y="1966279"/>
            <a:ext cx="426575" cy="426575"/>
          </a:xfrm>
          <a:prstGeom prst="rect">
            <a:avLst/>
          </a:prstGeom>
        </p:spPr>
      </p:pic>
      <p:sp>
        <p:nvSpPr>
          <p:cNvPr id="28" name="Title 3">
            <a:extLst>
              <a:ext uri="{FF2B5EF4-FFF2-40B4-BE49-F238E27FC236}">
                <a16:creationId xmlns:a16="http://schemas.microsoft.com/office/drawing/2014/main" id="{1344D7E5-CBE9-631E-8893-0346B9BE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66" y="272292"/>
            <a:ext cx="11290867" cy="1428871"/>
          </a:xfrm>
        </p:spPr>
        <p:txBody>
          <a:bodyPr anchor="t"/>
          <a:lstStyle/>
          <a:p>
            <a:pPr algn="l"/>
            <a:r>
              <a:rPr lang="en-GB"/>
              <a:t>Key data patterns guided targeted feature engineering—transformations, encoding, and new features to improve predictive power</a:t>
            </a:r>
            <a:endParaRPr lang="en-GB">
              <a:ea typeface="Calibri Light"/>
              <a:cs typeface="Calibri Light"/>
            </a:endParaRPr>
          </a:p>
        </p:txBody>
      </p:sp>
      <p:pic>
        <p:nvPicPr>
          <p:cNvPr id="31" name="Graphic 30" descr="Exclamation mark with solid fill">
            <a:extLst>
              <a:ext uri="{FF2B5EF4-FFF2-40B4-BE49-F238E27FC236}">
                <a16:creationId xmlns:a16="http://schemas.microsoft.com/office/drawing/2014/main" id="{B169A2B0-84F2-F479-1AF0-482A31D4DB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54037" y="5257740"/>
            <a:ext cx="623822" cy="57161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3D05C3-2BEA-BF2B-B412-5E0F16C8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190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A55D-9DF5-1719-6A8F-89DD604F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A7D0CC-D868-B86D-DA14-D54787729427}"/>
              </a:ext>
            </a:extLst>
          </p:cNvPr>
          <p:cNvSpPr/>
          <p:nvPr/>
        </p:nvSpPr>
        <p:spPr>
          <a:xfrm>
            <a:off x="450565" y="2010135"/>
            <a:ext cx="3026059" cy="4251863"/>
          </a:xfrm>
          <a:prstGeom prst="roundRect">
            <a:avLst>
              <a:gd name="adj" fmla="val 4033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1600" dirty="0">
                <a:solidFill>
                  <a:schemeClr val="accent1"/>
                </a:solidFill>
              </a:rPr>
              <a:t>MODELLING STRATEGY</a:t>
            </a:r>
            <a:endParaRPr lang="en-GB" sz="1600" dirty="0">
              <a:solidFill>
                <a:schemeClr val="accent1"/>
              </a:solidFill>
              <a:ea typeface="Calibri"/>
              <a:cs typeface="Calibri"/>
            </a:endParaRPr>
          </a:p>
          <a:p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r>
              <a:rPr lang="en-GB" sz="1400" dirty="0">
                <a:solidFill>
                  <a:schemeClr val="accent5"/>
                </a:solidFill>
              </a:rPr>
              <a:t>1. A </a:t>
            </a:r>
            <a:r>
              <a:rPr lang="en-GB" sz="1400" b="1" dirty="0">
                <a:solidFill>
                  <a:schemeClr val="accent5"/>
                </a:solidFill>
              </a:rPr>
              <a:t>simple Baseline </a:t>
            </a:r>
            <a:r>
              <a:rPr lang="en-GB" sz="1400" dirty="0">
                <a:solidFill>
                  <a:schemeClr val="accent5"/>
                </a:solidFill>
              </a:rPr>
              <a:t>model was implemented to provide a </a:t>
            </a:r>
            <a:r>
              <a:rPr lang="en-GB" sz="1400" u="sng" dirty="0">
                <a:solidFill>
                  <a:schemeClr val="accent5"/>
                </a:solidFill>
              </a:rPr>
              <a:t>reference</a:t>
            </a:r>
            <a:r>
              <a:rPr lang="en-GB" sz="1400" dirty="0">
                <a:solidFill>
                  <a:schemeClr val="accent5"/>
                </a:solidFill>
              </a:rPr>
              <a:t> point for comparison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lvl="1"/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r>
              <a:rPr lang="en-GB" sz="1400" dirty="0">
                <a:solidFill>
                  <a:schemeClr val="accent5"/>
                </a:solidFill>
              </a:rPr>
              <a:t>2. </a:t>
            </a:r>
            <a:r>
              <a:rPr lang="en-GB" sz="1400" b="1" dirty="0">
                <a:solidFill>
                  <a:schemeClr val="accent5"/>
                </a:solidFill>
              </a:rPr>
              <a:t>Two Models were tested, </a:t>
            </a:r>
            <a:r>
              <a:rPr lang="en-GB" sz="1400" dirty="0">
                <a:solidFill>
                  <a:schemeClr val="accent5"/>
                </a:solidFill>
              </a:rPr>
              <a:t>and their metrics were assessed to evaluate their performance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r>
              <a:rPr lang="en-GB" sz="1400" dirty="0">
                <a:solidFill>
                  <a:schemeClr val="accent5"/>
                </a:solidFill>
              </a:rPr>
              <a:t>A </a:t>
            </a:r>
            <a:r>
              <a:rPr lang="en-GB" sz="1400" b="1" dirty="0">
                <a:solidFill>
                  <a:schemeClr val="accent5"/>
                </a:solidFill>
              </a:rPr>
              <a:t>Pipeline</a:t>
            </a:r>
            <a:r>
              <a:rPr lang="en-GB" sz="1400" dirty="0">
                <a:solidFill>
                  <a:schemeClr val="accent5"/>
                </a:solidFill>
              </a:rPr>
              <a:t> was built for each model: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228600" lvl="1" indent="-114300">
              <a:lnSpc>
                <a:spcPct val="150000"/>
              </a:lnSpc>
              <a:buFont typeface="+mj-lt"/>
              <a:buAutoNum type="arabicPeriod"/>
            </a:pPr>
            <a:r>
              <a:rPr lang="en-GB" sz="1200" b="1" dirty="0">
                <a:solidFill>
                  <a:schemeClr val="accent5"/>
                </a:solidFill>
              </a:rPr>
              <a:t>Cleaning and imputation</a:t>
            </a:r>
            <a:endParaRPr lang="en-GB" sz="12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228600" lvl="1" indent="-114300">
              <a:lnSpc>
                <a:spcPct val="150000"/>
              </a:lnSpc>
              <a:buFont typeface="+mj-lt"/>
              <a:buAutoNum type="arabicPeriod"/>
            </a:pPr>
            <a:r>
              <a:rPr lang="en-GB" sz="1200" b="1" dirty="0">
                <a:solidFill>
                  <a:schemeClr val="accent5"/>
                </a:solidFill>
              </a:rPr>
              <a:t>Preprocessing and Data Transformation</a:t>
            </a:r>
            <a:endParaRPr lang="en-GB" sz="1200" b="1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228600" lvl="1" indent="-114300">
              <a:lnSpc>
                <a:spcPct val="150000"/>
              </a:lnSpc>
              <a:buFont typeface="+mj-lt"/>
              <a:buAutoNum type="arabicPeriod"/>
            </a:pPr>
            <a:r>
              <a:rPr lang="en-GB" sz="1200" b="1" dirty="0">
                <a:solidFill>
                  <a:schemeClr val="accent5"/>
                </a:solidFill>
              </a:rPr>
              <a:t>Resampling </a:t>
            </a:r>
            <a:r>
              <a:rPr lang="en-GB" sz="1050" dirty="0">
                <a:solidFill>
                  <a:schemeClr val="accent5"/>
                </a:solidFill>
              </a:rPr>
              <a:t>(due to high class imbalance)</a:t>
            </a:r>
            <a:endParaRPr lang="en-GB" sz="12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228600" lvl="1" indent="-114300">
              <a:lnSpc>
                <a:spcPct val="150000"/>
              </a:lnSpc>
              <a:buFont typeface="+mj-lt"/>
              <a:buAutoNum type="arabicPeriod"/>
            </a:pPr>
            <a:r>
              <a:rPr lang="en-GB" sz="1200" b="1" dirty="0">
                <a:solidFill>
                  <a:schemeClr val="accent5"/>
                </a:solidFill>
              </a:rPr>
              <a:t>Model fitting</a:t>
            </a:r>
            <a:endParaRPr lang="en-GB" sz="1400" b="1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A04AA51-B0C4-A804-6561-3B1F803F376D}"/>
              </a:ext>
            </a:extLst>
          </p:cNvPr>
          <p:cNvSpPr/>
          <p:nvPr/>
        </p:nvSpPr>
        <p:spPr>
          <a:xfrm>
            <a:off x="-1" y="-80892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F06587-1176-6141-BFD2-68704F6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657" y="297609"/>
            <a:ext cx="11290867" cy="1510665"/>
          </a:xfrm>
        </p:spPr>
        <p:txBody>
          <a:bodyPr anchor="t"/>
          <a:lstStyle/>
          <a:p>
            <a:pPr algn="l"/>
            <a:r>
              <a:rPr lang="en-GB" dirty="0"/>
              <a:t>Modelling Approach: From a baseline model to a pipeline process</a:t>
            </a:r>
            <a:endParaRPr lang="en-GB" dirty="0" err="1">
              <a:ea typeface="Calibri Light"/>
              <a:cs typeface="Calibri Ligh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4CACAF-18CB-84E3-CF1D-843245807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611088"/>
              </p:ext>
            </p:extLst>
          </p:nvPr>
        </p:nvGraphicFramePr>
        <p:xfrm>
          <a:off x="3657599" y="2447925"/>
          <a:ext cx="8162924" cy="381291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55888">
                  <a:extLst>
                    <a:ext uri="{9D8B030D-6E8A-4147-A177-3AD203B41FA5}">
                      <a16:colId xmlns:a16="http://schemas.microsoft.com/office/drawing/2014/main" val="563953069"/>
                    </a:ext>
                  </a:extLst>
                </a:gridCol>
                <a:gridCol w="2047134">
                  <a:extLst>
                    <a:ext uri="{9D8B030D-6E8A-4147-A177-3AD203B41FA5}">
                      <a16:colId xmlns:a16="http://schemas.microsoft.com/office/drawing/2014/main" val="2399312541"/>
                    </a:ext>
                  </a:extLst>
                </a:gridCol>
                <a:gridCol w="2623253">
                  <a:extLst>
                    <a:ext uri="{9D8B030D-6E8A-4147-A177-3AD203B41FA5}">
                      <a16:colId xmlns:a16="http://schemas.microsoft.com/office/drawing/2014/main" val="45932508"/>
                    </a:ext>
                  </a:extLst>
                </a:gridCol>
                <a:gridCol w="2236649">
                  <a:extLst>
                    <a:ext uri="{9D8B030D-6E8A-4147-A177-3AD203B41FA5}">
                      <a16:colId xmlns:a16="http://schemas.microsoft.com/office/drawing/2014/main" val="3488994602"/>
                    </a:ext>
                  </a:extLst>
                </a:gridCol>
              </a:tblGrid>
              <a:tr h="351936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 </a:t>
                      </a:r>
                      <a:endParaRPr lang="en-GB" sz="1000" noProof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BASELINE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MODEL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MODEL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63813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algn="r"/>
                      <a:r>
                        <a:rPr lang="en-GB" sz="1200" b="1" noProof="0" dirty="0">
                          <a:solidFill>
                            <a:schemeClr val="accent5"/>
                          </a:solidFill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 </a:t>
                      </a:r>
                      <a:r>
                        <a:rPr lang="en-GB" sz="1100" b="0" noProof="0" dirty="0" err="1"/>
                        <a:t>XGBoost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020177"/>
                  </a:ext>
                </a:extLst>
              </a:tr>
              <a:tr h="432378">
                <a:tc>
                  <a:txBody>
                    <a:bodyPr/>
                    <a:lstStyle/>
                    <a:p>
                      <a:pPr algn="r"/>
                      <a:r>
                        <a:rPr lang="en-GB" sz="1200" b="1" noProof="0" dirty="0">
                          <a:solidFill>
                            <a:schemeClr val="accent5"/>
                          </a:solidFill>
                        </a:rPr>
                        <a:t>Feature Transformation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     One-hot  </a:t>
                      </a:r>
                      <a:r>
                        <a:rPr lang="en-GB" sz="1100" b="0" noProof="0" err="1"/>
                        <a:t>enconding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noProof="0" dirty="0"/>
                        <a:t>Pre-</a:t>
                      </a:r>
                      <a:r>
                        <a:rPr lang="en-GB" sz="1100" b="0" noProof="0" err="1"/>
                        <a:t>processsing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noProof="0" dirty="0"/>
                        <a:t>&amp; Feature Engineering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Pre-</a:t>
                      </a:r>
                      <a:r>
                        <a:rPr lang="en-GB" sz="1100" b="0" noProof="0" err="1"/>
                        <a:t>processsing</a:t>
                      </a:r>
                    </a:p>
                    <a:p>
                      <a:pPr algn="ctr"/>
                      <a:r>
                        <a:rPr lang="en-GB" sz="1100" b="0" noProof="0" dirty="0"/>
                        <a:t>&amp; Feature Engineering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328502"/>
                  </a:ext>
                </a:extLst>
              </a:tr>
              <a:tr h="432378">
                <a:tc>
                  <a:txBody>
                    <a:bodyPr/>
                    <a:lstStyle/>
                    <a:p>
                      <a:pPr algn="r"/>
                      <a:r>
                        <a:rPr lang="en-GB" sz="1200" b="1" noProof="0" dirty="0" err="1">
                          <a:solidFill>
                            <a:schemeClr val="accent5"/>
                          </a:solidFill>
                        </a:rPr>
                        <a:t>Reampling</a:t>
                      </a:r>
                      <a:r>
                        <a:rPr lang="en-GB" sz="1200" b="1" noProof="0" dirty="0">
                          <a:solidFill>
                            <a:schemeClr val="accent5"/>
                          </a:solidFill>
                        </a:rPr>
                        <a:t> Techniques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None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SMOTEEN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SMOTE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764185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algn="r"/>
                      <a:r>
                        <a:rPr lang="en-GB" sz="1200" b="1" noProof="0" dirty="0">
                          <a:solidFill>
                            <a:schemeClr val="accent5"/>
                          </a:solidFill>
                        </a:rPr>
                        <a:t>Metric Criteria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 F1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F1*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noProof="0" dirty="0"/>
                        <a:t>F1*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229167"/>
                  </a:ext>
                </a:extLst>
              </a:tr>
              <a:tr h="1777550">
                <a:tc>
                  <a:txBody>
                    <a:bodyPr/>
                    <a:lstStyle/>
                    <a:p>
                      <a:pPr algn="l"/>
                      <a:r>
                        <a:rPr lang="en-GB" sz="900" b="1" i="1" noProof="0" dirty="0">
                          <a:solidFill>
                            <a:schemeClr val="accent5"/>
                          </a:solidFill>
                        </a:rPr>
                        <a:t>Hyperparameters</a:t>
                      </a:r>
                    </a:p>
                    <a:p>
                      <a:pPr lvl="0" algn="l">
                        <a:buNone/>
                      </a:pPr>
                      <a:r>
                        <a:rPr lang="en-GB" sz="900" b="0" i="1" noProof="0" dirty="0" err="1">
                          <a:solidFill>
                            <a:schemeClr val="accent5"/>
                          </a:solidFill>
                        </a:rPr>
                        <a:t>Gridsearch</a:t>
                      </a:r>
                      <a:r>
                        <a:rPr lang="en-GB" sz="900" b="0" i="1" noProof="0" dirty="0">
                          <a:solidFill>
                            <a:schemeClr val="accent5"/>
                          </a:solidFill>
                        </a:rPr>
                        <a:t>: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GB" sz="900" b="0" i="1" noProof="0" dirty="0">
                          <a:solidFill>
                            <a:schemeClr val="accent5"/>
                          </a:solidFill>
                        </a:rPr>
                        <a:t>CV: 3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GB" sz="900" b="0" i="1" noProof="0" dirty="0">
                          <a:solidFill>
                            <a:schemeClr val="accent5"/>
                          </a:solidFill>
                        </a:rPr>
                        <a:t>Scoring: ROC_AUC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b="0" i="1" noProof="0" dirty="0" err="1"/>
                        <a:t>Max_iter</a:t>
                      </a:r>
                      <a:r>
                        <a:rPr lang="en-GB" sz="900" b="0" i="1" noProof="0" dirty="0"/>
                        <a:t>= 5000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b="0" i="1" noProof="0" dirty="0"/>
                        <a:t>Solver =</a:t>
                      </a:r>
                      <a:r>
                        <a:rPr lang="en-GB" sz="900" b="0" i="1" noProof="0" dirty="0" err="1"/>
                        <a:t>lbfgs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b="0" i="1" noProof="0" dirty="0"/>
                        <a:t>Penalty = L2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b="0" i="1" noProof="0" dirty="0"/>
                        <a:t>C= 1 (default)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Preprocessor_cat_woe_regul</a:t>
                      </a:r>
                      <a:r>
                        <a:rPr lang="en-GB" sz="900" i="1" noProof="0" dirty="0"/>
                        <a:t> = [0.01, 0.1, 1, 10]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Preprocessor_cat_select_k</a:t>
                      </a:r>
                      <a:r>
                        <a:rPr lang="en-GB" sz="900" i="1" noProof="0" dirty="0"/>
                        <a:t> = [3, 6]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Preprocessor_num_select_k</a:t>
                      </a:r>
                      <a:r>
                        <a:rPr lang="en-GB" sz="900" i="1" noProof="0" dirty="0"/>
                        <a:t> =[5 , 10, 15]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Smoteen_smote_k_neighbors</a:t>
                      </a:r>
                      <a:r>
                        <a:rPr lang="en-GB" sz="900" i="1" noProof="0" dirty="0"/>
                        <a:t>: [3 , 5]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Smoteen_sampling_strategy</a:t>
                      </a:r>
                      <a:r>
                        <a:rPr lang="en-GB" sz="900" i="1" noProof="0" dirty="0"/>
                        <a:t> = [0.5 , 0,7]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Max_iter</a:t>
                      </a:r>
                      <a:r>
                        <a:rPr lang="en-GB" sz="900" i="1" noProof="0" dirty="0"/>
                        <a:t>= [500, 1000, 2000]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/>
                        <a:t>Solver =</a:t>
                      </a:r>
                      <a:r>
                        <a:rPr lang="en-GB" sz="900" i="1" noProof="0" dirty="0" err="1"/>
                        <a:t>lbfgs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/>
                        <a:t>Penalty = L2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/>
                        <a:t>C= [0,01, 0,1, 1]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Preprocessor_cat_woe_regul</a:t>
                      </a:r>
                      <a:r>
                        <a:rPr lang="en-GB" sz="900" i="1" noProof="0" dirty="0"/>
                        <a:t> = [0.1, 10]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Preprocessor_cat_select_k</a:t>
                      </a:r>
                      <a:r>
                        <a:rPr lang="en-GB" sz="900" i="1" noProof="0" dirty="0"/>
                        <a:t> = [4 , 7]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Preprocessor_num_select_k</a:t>
                      </a:r>
                      <a:r>
                        <a:rPr lang="en-GB" sz="900" i="1" noProof="0" dirty="0"/>
                        <a:t> =[5 , 10]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Smote_k_neighbors</a:t>
                      </a:r>
                      <a:r>
                        <a:rPr lang="en-GB" sz="900" i="1" noProof="0" dirty="0"/>
                        <a:t>: [3 , 5]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Smote_sampling_strategy</a:t>
                      </a:r>
                      <a:r>
                        <a:rPr lang="en-GB" sz="900" i="1" noProof="0" dirty="0"/>
                        <a:t> = [0.5 , 0,7]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Model_max_depth</a:t>
                      </a:r>
                      <a:r>
                        <a:rPr lang="en-GB" sz="900" i="1" noProof="0" dirty="0"/>
                        <a:t> = [3 , 5]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Model_learnig_rate</a:t>
                      </a:r>
                      <a:r>
                        <a:rPr lang="en-GB" sz="900" i="1" noProof="0" dirty="0"/>
                        <a:t> =[0.03 , 0.05 , 0.1]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Model_n_estimators</a:t>
                      </a:r>
                      <a:r>
                        <a:rPr lang="en-GB" sz="900" i="1" noProof="0" dirty="0"/>
                        <a:t> = [ 200 , 400]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Model_subsample</a:t>
                      </a:r>
                      <a:r>
                        <a:rPr lang="en-GB" sz="900" i="1" noProof="0" dirty="0"/>
                        <a:t> = [0.8 , 1]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Model_colsample_bytree</a:t>
                      </a:r>
                      <a:r>
                        <a:rPr lang="en-GB" sz="900" i="1" noProof="0" dirty="0"/>
                        <a:t> = [0.7 , 1]</a:t>
                      </a:r>
                    </a:p>
                    <a:p>
                      <a:pPr marL="114300" indent="-1143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900" i="1" noProof="0" dirty="0" err="1"/>
                        <a:t>Model_min_child_weight</a:t>
                      </a:r>
                      <a:r>
                        <a:rPr lang="en-GB" sz="900" i="1" noProof="0" dirty="0"/>
                        <a:t> = [1 .5]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846963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153A18-E395-3F9A-5C1F-5A7F2221D5F4}"/>
              </a:ext>
            </a:extLst>
          </p:cNvPr>
          <p:cNvSpPr/>
          <p:nvPr/>
        </p:nvSpPr>
        <p:spPr>
          <a:xfrm>
            <a:off x="3574765" y="2010134"/>
            <a:ext cx="8402998" cy="437791"/>
          </a:xfrm>
          <a:prstGeom prst="roundRect">
            <a:avLst>
              <a:gd name="adj" fmla="val 4033"/>
            </a:avLst>
          </a:prstGeom>
          <a:noFill/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>
                <a:solidFill>
                  <a:schemeClr val="tx1"/>
                </a:solidFill>
              </a:rPr>
              <a:t>Model details</a:t>
            </a:r>
            <a:endParaRPr lang="pt-PT" sz="2000" b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40932C-EA1C-7206-D63A-0E92654130FC}"/>
              </a:ext>
            </a:extLst>
          </p:cNvPr>
          <p:cNvCxnSpPr>
            <a:cxnSpLocks/>
          </p:cNvCxnSpPr>
          <p:nvPr/>
        </p:nvCxnSpPr>
        <p:spPr>
          <a:xfrm flipV="1">
            <a:off x="5242559" y="2256155"/>
            <a:ext cx="6577966" cy="20320"/>
          </a:xfrm>
          <a:prstGeom prst="line">
            <a:avLst/>
          </a:prstGeom>
          <a:ln w="28575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31EC6F-68D5-4C58-D69E-A6969B05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D9B8CB-37A8-A783-A814-61E8C2BF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64628"/>
            <a:ext cx="4114800" cy="160514"/>
          </a:xfrm>
        </p:spPr>
        <p:txBody>
          <a:bodyPr/>
          <a:lstStyle/>
          <a:p>
            <a:pPr algn="l"/>
            <a:r>
              <a:rPr lang="en-GB" sz="1000" dirty="0">
                <a:ea typeface="Calibri"/>
                <a:cs typeface="Calibri"/>
              </a:rPr>
              <a:t>* after threshold tunning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9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2A09-3D56-9FBF-A3AA-4967E410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09B020E-3F7C-275C-896B-5FD4638FD221}"/>
              </a:ext>
            </a:extLst>
          </p:cNvPr>
          <p:cNvSpPr/>
          <p:nvPr/>
        </p:nvSpPr>
        <p:spPr>
          <a:xfrm>
            <a:off x="-6350" y="-3851"/>
            <a:ext cx="12198350" cy="1705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440A86-BFF3-A143-2A73-EB0D962DF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0"/>
            <a:ext cx="11290867" cy="1510665"/>
          </a:xfrm>
        </p:spPr>
        <p:txBody>
          <a:bodyPr anchor="t"/>
          <a:lstStyle/>
          <a:p>
            <a:pPr algn="l"/>
            <a:r>
              <a:rPr lang="en-US" dirty="0"/>
              <a:t>Results —</a:t>
            </a:r>
            <a:r>
              <a:rPr lang="en-US" dirty="0" err="1"/>
              <a:t>XGBoost</a:t>
            </a:r>
            <a:r>
              <a:rPr lang="en-US" dirty="0"/>
              <a:t> achieved the best overall performance, handling imbalance and capturing complex patterns in the data...</a:t>
            </a:r>
            <a:endParaRPr lang="pt-PT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7571A9-0101-5E12-47A4-177E9BAD6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287763"/>
              </p:ext>
            </p:extLst>
          </p:nvPr>
        </p:nvGraphicFramePr>
        <p:xfrm>
          <a:off x="386219" y="2077233"/>
          <a:ext cx="3729838" cy="448950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507724">
                  <a:extLst>
                    <a:ext uri="{9D8B030D-6E8A-4147-A177-3AD203B41FA5}">
                      <a16:colId xmlns:a16="http://schemas.microsoft.com/office/drawing/2014/main" val="1493109415"/>
                    </a:ext>
                  </a:extLst>
                </a:gridCol>
                <a:gridCol w="721755">
                  <a:extLst>
                    <a:ext uri="{9D8B030D-6E8A-4147-A177-3AD203B41FA5}">
                      <a16:colId xmlns:a16="http://schemas.microsoft.com/office/drawing/2014/main" val="3588261133"/>
                    </a:ext>
                  </a:extLst>
                </a:gridCol>
                <a:gridCol w="768717">
                  <a:extLst>
                    <a:ext uri="{9D8B030D-6E8A-4147-A177-3AD203B41FA5}">
                      <a16:colId xmlns:a16="http://schemas.microsoft.com/office/drawing/2014/main" val="736153908"/>
                    </a:ext>
                  </a:extLst>
                </a:gridCol>
                <a:gridCol w="731642">
                  <a:extLst>
                    <a:ext uri="{9D8B030D-6E8A-4147-A177-3AD203B41FA5}">
                      <a16:colId xmlns:a16="http://schemas.microsoft.com/office/drawing/2014/main" val="3036799113"/>
                    </a:ext>
                  </a:extLst>
                </a:gridCol>
              </a:tblGrid>
              <a:tr h="23055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D56F1D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D56F1D"/>
                          </a:solidFill>
                          <a:effectLst/>
                        </a:rPr>
                        <a:t>Baseline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D56F1D"/>
                          </a:solidFill>
                          <a:effectLst/>
                        </a:rPr>
                        <a:t>LR Tuned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 err="1">
                          <a:solidFill>
                            <a:srgbClr val="D56F1D"/>
                          </a:solidFill>
                          <a:effectLst/>
                        </a:rPr>
                        <a:t>XGBoost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13727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age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91232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job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  <a:endParaRPr lang="en-US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✔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180755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marital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sz="10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483467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education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sz="10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41043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default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sz="10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807629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housing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603456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loan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✔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sz="10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599902"/>
                  </a:ext>
                </a:extLst>
              </a:tr>
              <a:tr h="19618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contact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✔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887115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month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</a:rPr>
                        <a:t>✖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✖</a:t>
                      </a:r>
                      <a:endParaRPr kumimoji="0"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422242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 err="1">
                          <a:effectLst/>
                        </a:rPr>
                        <a:t>day_of_week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</a:rPr>
                        <a:t>✖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✖</a:t>
                      </a:r>
                      <a:endParaRPr kumimoji="0"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502729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campaign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460479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 err="1">
                          <a:effectLst/>
                        </a:rPr>
                        <a:t>pdays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✔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290102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previous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✔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18290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 err="1">
                          <a:effectLst/>
                        </a:rPr>
                        <a:t>poutcome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✔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171427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 err="1">
                          <a:effectLst/>
                        </a:rPr>
                        <a:t>emp_var_rate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sz="10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51342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 err="1">
                          <a:effectLst/>
                        </a:rPr>
                        <a:t>cons_price_idx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</a:rPr>
                        <a:t>✖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✖</a:t>
                      </a:r>
                      <a:endParaRPr kumimoji="0"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069769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 err="1">
                          <a:effectLst/>
                        </a:rPr>
                        <a:t>cons_conf_idx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✖</a:t>
                      </a:r>
                      <a:endParaRPr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8161430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effectLst/>
                        </a:rPr>
                        <a:t>euribor3m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</a:rPr>
                        <a:t>✖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✖</a:t>
                      </a:r>
                      <a:endParaRPr kumimoji="0"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483011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 err="1">
                          <a:effectLst/>
                        </a:rPr>
                        <a:t>nr_employed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</a:rPr>
                        <a:t>✖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✖</a:t>
                      </a:r>
                      <a:endParaRPr kumimoji="0" lang="en-US" dirty="0"/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3175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124271"/>
                  </a:ext>
                </a:extLst>
              </a:tr>
              <a:tr h="23145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0" dirty="0">
                          <a:effectLst/>
                          <a:highlight>
                            <a:srgbClr val="FAEADD"/>
                          </a:highlight>
                        </a:rPr>
                        <a:t>Engineered Features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effectLst/>
                        </a:rPr>
                        <a:t>✖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42879" marR="42879" marT="21440" marB="21440" anchor="ctr"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rgbClr val="D56F1D"/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34098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17211A1-051C-9B7F-8A8A-6C042C7D0A78}"/>
              </a:ext>
            </a:extLst>
          </p:cNvPr>
          <p:cNvSpPr txBox="1"/>
          <p:nvPr/>
        </p:nvSpPr>
        <p:spPr>
          <a:xfrm>
            <a:off x="383140" y="1772518"/>
            <a:ext cx="3137467" cy="30777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b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</a:rPr>
              <a:t>Features used by model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87DF94-89A0-2DDF-3C65-E422169B8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5230"/>
              </p:ext>
            </p:extLst>
          </p:nvPr>
        </p:nvGraphicFramePr>
        <p:xfrm>
          <a:off x="4718136" y="2129425"/>
          <a:ext cx="3058926" cy="379087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642033">
                  <a:extLst>
                    <a:ext uri="{9D8B030D-6E8A-4147-A177-3AD203B41FA5}">
                      <a16:colId xmlns:a16="http://schemas.microsoft.com/office/drawing/2014/main" val="619447974"/>
                    </a:ext>
                  </a:extLst>
                </a:gridCol>
                <a:gridCol w="783785">
                  <a:extLst>
                    <a:ext uri="{9D8B030D-6E8A-4147-A177-3AD203B41FA5}">
                      <a16:colId xmlns:a16="http://schemas.microsoft.com/office/drawing/2014/main" val="1362683313"/>
                    </a:ext>
                  </a:extLst>
                </a:gridCol>
                <a:gridCol w="849323">
                  <a:extLst>
                    <a:ext uri="{9D8B030D-6E8A-4147-A177-3AD203B41FA5}">
                      <a16:colId xmlns:a16="http://schemas.microsoft.com/office/drawing/2014/main" val="1443200528"/>
                    </a:ext>
                  </a:extLst>
                </a:gridCol>
                <a:gridCol w="783785">
                  <a:extLst>
                    <a:ext uri="{9D8B030D-6E8A-4147-A177-3AD203B41FA5}">
                      <a16:colId xmlns:a16="http://schemas.microsoft.com/office/drawing/2014/main" val="2399058414"/>
                    </a:ext>
                  </a:extLst>
                </a:gridCol>
              </a:tblGrid>
              <a:tr h="26201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D56F1D"/>
                          </a:solidFill>
                          <a:effectLst/>
                        </a:rPr>
                        <a:t>Baseline</a:t>
                      </a: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D56F1D"/>
                          </a:solidFill>
                          <a:effectLst/>
                        </a:rPr>
                        <a:t>LR Tuned</a:t>
                      </a: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 err="1">
                          <a:solidFill>
                            <a:srgbClr val="D56F1D"/>
                          </a:solidFill>
                          <a:effectLst/>
                        </a:rPr>
                        <a:t>XGBoost</a:t>
                      </a: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89898"/>
                  </a:ext>
                </a:extLst>
              </a:tr>
              <a:tr h="747935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ROC AUC</a:t>
                      </a: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0.78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0.79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0.80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58126"/>
                  </a:ext>
                </a:extLst>
              </a:tr>
              <a:tr h="6952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Accuracy</a:t>
                      </a:r>
                      <a:endParaRPr lang="en-US" sz="11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0.90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0.87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0.87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045515"/>
                  </a:ext>
                </a:extLst>
              </a:tr>
              <a:tr h="6952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Precision</a:t>
                      </a:r>
                      <a:endParaRPr lang="en-US" sz="11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0.67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0.45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0.45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892467"/>
                  </a:ext>
                </a:extLst>
              </a:tr>
              <a:tr h="6952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Recall</a:t>
                      </a:r>
                      <a:endParaRPr lang="en-US" sz="11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0.22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0.52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0.57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6350">
                      <a:solidFill>
                        <a:srgbClr val="D56F1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99504"/>
                  </a:ext>
                </a:extLst>
              </a:tr>
              <a:tr h="69523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F1</a:t>
                      </a:r>
                      <a:endParaRPr lang="en-US" sz="11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0.33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0.49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0.51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56F1D"/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978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60AB3F-97F2-C07E-4B91-564BD17EAF97}"/>
              </a:ext>
            </a:extLst>
          </p:cNvPr>
          <p:cNvSpPr txBox="1"/>
          <p:nvPr/>
        </p:nvSpPr>
        <p:spPr>
          <a:xfrm>
            <a:off x="4714589" y="1771207"/>
            <a:ext cx="3185758" cy="30777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b">
            <a:spAutoFit/>
          </a:bodyPr>
          <a:lstStyle/>
          <a:p>
            <a:r>
              <a:rPr lang="en-US" sz="1400" b="1"/>
              <a:t>Evaluation metrics</a:t>
            </a:r>
            <a:endParaRPr lang="en-US">
              <a:ea typeface="Calibri"/>
              <a:cs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B79BE9-2C6B-0B99-35A8-A93EE0CE89B7}"/>
              </a:ext>
            </a:extLst>
          </p:cNvPr>
          <p:cNvGrpSpPr/>
          <p:nvPr/>
        </p:nvGrpSpPr>
        <p:grpSpPr>
          <a:xfrm>
            <a:off x="8298342" y="2048909"/>
            <a:ext cx="3504191" cy="4268751"/>
            <a:chOff x="8383009" y="2204131"/>
            <a:chExt cx="3504191" cy="426875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87BDD9C-F185-256E-820D-D66CF7F3ACB8}"/>
                </a:ext>
              </a:extLst>
            </p:cNvPr>
            <p:cNvSpPr/>
            <p:nvPr/>
          </p:nvSpPr>
          <p:spPr>
            <a:xfrm>
              <a:off x="8383009" y="2204131"/>
              <a:ext cx="3504191" cy="4253705"/>
            </a:xfrm>
            <a:prstGeom prst="roundRect">
              <a:avLst>
                <a:gd name="adj" fmla="val 40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3136F5-0E70-9D18-F2DA-6F4577D8BE8D}"/>
                </a:ext>
              </a:extLst>
            </p:cNvPr>
            <p:cNvSpPr txBox="1"/>
            <p:nvPr/>
          </p:nvSpPr>
          <p:spPr>
            <a:xfrm>
              <a:off x="8475725" y="2287121"/>
              <a:ext cx="3185758" cy="418576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ea typeface="+mn-lt"/>
                  <a:cs typeface="+mn-lt"/>
                </a:rPr>
                <a:t>The </a:t>
              </a:r>
              <a:r>
                <a:rPr lang="en-US" sz="1400" b="1" dirty="0" err="1">
                  <a:ea typeface="+mn-lt"/>
                  <a:cs typeface="+mn-lt"/>
                </a:rPr>
                <a:t>XGBoost</a:t>
              </a:r>
              <a:r>
                <a:rPr lang="en-US" sz="1400" b="1" dirty="0">
                  <a:ea typeface="+mn-lt"/>
                  <a:cs typeface="+mn-lt"/>
                </a:rPr>
                <a:t> model</a:t>
              </a:r>
              <a:r>
                <a:rPr lang="en-US" sz="1400" dirty="0">
                  <a:ea typeface="+mn-lt"/>
                  <a:cs typeface="+mn-lt"/>
                </a:rPr>
                <a:t> was selected as the final production model because it achieved the highest </a:t>
              </a:r>
              <a:r>
                <a:rPr lang="en-US" sz="1400" b="1" dirty="0">
                  <a:ea typeface="+mn-lt"/>
                  <a:cs typeface="+mn-lt"/>
                </a:rPr>
                <a:t>F1-score</a:t>
              </a:r>
              <a:r>
                <a:rPr lang="en-US" sz="1400" dirty="0">
                  <a:ea typeface="+mn-lt"/>
                  <a:cs typeface="+mn-lt"/>
                </a:rPr>
                <a:t>, offering the best balance between Recall and Precision among all evaluated models</a:t>
              </a:r>
              <a:endParaRPr lang="en-US" sz="1400" dirty="0"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PT" sz="14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For the Telemarketing Long-Term Deposit problem, the objective is two-fold:</a:t>
              </a:r>
              <a:endParaRPr lang="en-US" sz="1400" dirty="0">
                <a:ea typeface="Calibri"/>
                <a:cs typeface="Calibri"/>
              </a:endParaRPr>
            </a:p>
            <a:p>
              <a:pPr lvl="1"/>
              <a:r>
                <a:rPr lang="en-US" sz="1400" b="1" dirty="0"/>
                <a:t>1. Maximize Recall:</a:t>
              </a:r>
              <a:r>
                <a:rPr lang="en-US" sz="1400" dirty="0"/>
                <a:t> </a:t>
              </a:r>
              <a:r>
                <a:rPr lang="en-US" sz="1400" dirty="0">
                  <a:ea typeface="+mn-lt"/>
                  <a:cs typeface="+mn-lt"/>
                </a:rPr>
                <a:t>Ensure that as many interested clients as possible are correctly identified, reducing missed opportunities</a:t>
              </a:r>
              <a:endParaRPr lang="en-US" sz="1400" dirty="0">
                <a:ea typeface="Calibri"/>
                <a:cs typeface="Calibri"/>
              </a:endParaRPr>
            </a:p>
            <a:p>
              <a:pPr lvl="1"/>
              <a:r>
                <a:rPr lang="en-US" sz="1400" b="1" dirty="0"/>
                <a:t>2. Maximize </a:t>
              </a:r>
              <a:r>
                <a:rPr lang="en-US" sz="1400" b="1" dirty="0">
                  <a:ea typeface="+mn-lt"/>
                  <a:cs typeface="+mn-lt"/>
                </a:rPr>
                <a:t>Specificity</a:t>
              </a:r>
              <a:r>
                <a:rPr lang="en-US" sz="1400" b="1" dirty="0"/>
                <a:t>:</a:t>
              </a:r>
              <a:r>
                <a:rPr lang="en-US" sz="1400" dirty="0"/>
                <a:t> </a:t>
              </a:r>
              <a:r>
                <a:rPr lang="en-US" sz="1400" dirty="0">
                  <a:ea typeface="+mn-lt"/>
                  <a:cs typeface="+mn-lt"/>
                </a:rPr>
                <a:t>Reduce the number of unnecessary calls to uninterested clients, improving operational efficiency and lowering campaign costs</a:t>
              </a:r>
              <a:endParaRPr lang="pt-PT" sz="1400" dirty="0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695B94-EE0F-DB2B-844D-1565C60591FF}"/>
              </a:ext>
            </a:extLst>
          </p:cNvPr>
          <p:cNvCxnSpPr>
            <a:cxnSpLocks/>
          </p:cNvCxnSpPr>
          <p:nvPr/>
        </p:nvCxnSpPr>
        <p:spPr>
          <a:xfrm>
            <a:off x="6307271" y="1973762"/>
            <a:ext cx="1463173" cy="557"/>
          </a:xfrm>
          <a:prstGeom prst="line">
            <a:avLst/>
          </a:prstGeom>
          <a:ln w="28575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E9112C-2C29-7817-9E9A-D2373DBC3C9E}"/>
              </a:ext>
            </a:extLst>
          </p:cNvPr>
          <p:cNvGrpSpPr/>
          <p:nvPr/>
        </p:nvGrpSpPr>
        <p:grpSpPr>
          <a:xfrm>
            <a:off x="6820883" y="2127355"/>
            <a:ext cx="1144753" cy="4100501"/>
            <a:chOff x="6862636" y="2336122"/>
            <a:chExt cx="1144753" cy="41005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FCD0681-2AAD-8026-F1E7-7F8D5A2E316E}"/>
                </a:ext>
              </a:extLst>
            </p:cNvPr>
            <p:cNvSpPr/>
            <p:nvPr/>
          </p:nvSpPr>
          <p:spPr>
            <a:xfrm>
              <a:off x="7029093" y="2336122"/>
              <a:ext cx="787164" cy="3795831"/>
            </a:xfrm>
            <a:prstGeom prst="roundRect">
              <a:avLst>
                <a:gd name="adj" fmla="val 4033"/>
              </a:avLst>
            </a:prstGeom>
            <a:noFill/>
            <a:ln w="19050"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75E409DD-AC09-B696-9DF0-670C01D22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2636" y="6163270"/>
              <a:ext cx="1144753" cy="273353"/>
            </a:xfrm>
            <a:prstGeom prst="rect">
              <a:avLst/>
            </a:prstGeom>
            <a:noFill/>
            <a:ln w="9525">
              <a:noFill/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accent2"/>
                </a:buClr>
                <a:buFont typeface="Wingdings" panose="05000000000000000000" pitchFamily="2" charset="2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>
                  <a:solidFill>
                    <a:schemeClr val="accent2">
                      <a:lumMod val="75000"/>
                    </a:schemeClr>
                  </a:solidFill>
                </a:rPr>
                <a:t>BEST MODE</a:t>
              </a:r>
              <a:r>
                <a:rPr lang="en-US" sz="1600" b="1">
                  <a:solidFill>
                    <a:schemeClr val="accent2">
                      <a:lumMod val="75000"/>
                    </a:schemeClr>
                  </a:solidFill>
                </a:rPr>
                <a:t>L</a:t>
              </a:r>
              <a:endParaRPr lang="en-US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7D74C8-77FB-D47B-BAA4-7EF818195F22}"/>
              </a:ext>
            </a:extLst>
          </p:cNvPr>
          <p:cNvCxnSpPr>
            <a:cxnSpLocks/>
          </p:cNvCxnSpPr>
          <p:nvPr/>
        </p:nvCxnSpPr>
        <p:spPr>
          <a:xfrm>
            <a:off x="2319820" y="1973762"/>
            <a:ext cx="1797199" cy="557"/>
          </a:xfrm>
          <a:prstGeom prst="line">
            <a:avLst/>
          </a:prstGeom>
          <a:ln w="28575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C81E7A-8F7B-BBCB-9281-5917E15E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17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D3A3E-E55C-7CE7-AD65-19B7C2B56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E1295EC-B16A-F378-49AE-59E01CCFA4C1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3B78C6-CDDE-60C4-C4BB-12E0C934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8" y="535251"/>
            <a:ext cx="12192000" cy="1510665"/>
          </a:xfrm>
        </p:spPr>
        <p:txBody>
          <a:bodyPr anchor="t"/>
          <a:lstStyle/>
          <a:p>
            <a:pPr algn="l"/>
            <a:r>
              <a:rPr lang="en-US" dirty="0"/>
              <a:t>Key predictive features in the final </a:t>
            </a:r>
            <a:r>
              <a:rPr lang="en-US" err="1"/>
              <a:t>xgboost</a:t>
            </a:r>
            <a:r>
              <a:rPr lang="en-US"/>
              <a:t> model</a:t>
            </a:r>
            <a:endParaRPr lang="pt-P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456B73-D799-B19F-458E-2D52F24C4898}"/>
              </a:ext>
            </a:extLst>
          </p:cNvPr>
          <p:cNvSpPr txBox="1"/>
          <p:nvPr/>
        </p:nvSpPr>
        <p:spPr>
          <a:xfrm>
            <a:off x="286469" y="1759890"/>
            <a:ext cx="4934394" cy="30777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</a:rPr>
              <a:t>Features used by XGBOOST and their SHAP summary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B29C15-A9A8-1A79-F9AA-ED32BCAC4E6C}"/>
              </a:ext>
            </a:extLst>
          </p:cNvPr>
          <p:cNvGrpSpPr/>
          <p:nvPr/>
        </p:nvGrpSpPr>
        <p:grpSpPr>
          <a:xfrm>
            <a:off x="6423633" y="2195710"/>
            <a:ext cx="5482141" cy="4010846"/>
            <a:chOff x="6607078" y="1828821"/>
            <a:chExt cx="5482141" cy="401084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7DD0B13-B6CD-BAAC-8A99-8837DA5AB095}"/>
                </a:ext>
              </a:extLst>
            </p:cNvPr>
            <p:cNvSpPr/>
            <p:nvPr/>
          </p:nvSpPr>
          <p:spPr>
            <a:xfrm>
              <a:off x="6607078" y="1828821"/>
              <a:ext cx="5482141" cy="4010846"/>
            </a:xfrm>
            <a:prstGeom prst="roundRect">
              <a:avLst>
                <a:gd name="adj" fmla="val 40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EB3DC0-509E-5A01-FD4F-32CC70381D13}"/>
                </a:ext>
              </a:extLst>
            </p:cNvPr>
            <p:cNvSpPr txBox="1"/>
            <p:nvPr/>
          </p:nvSpPr>
          <p:spPr>
            <a:xfrm>
              <a:off x="6728490" y="2069488"/>
              <a:ext cx="5247752" cy="35394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400" dirty="0"/>
                <a:t>The model is mostly dominated by </a:t>
              </a:r>
              <a:r>
                <a:rPr lang="en-GB" sz="1400" b="1" dirty="0"/>
                <a:t>macroeconomic indicators:</a:t>
              </a:r>
              <a:endParaRPr lang="en-GB" sz="1400" b="1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b="1" dirty="0"/>
                <a:t>Recession periods </a:t>
              </a:r>
              <a:r>
                <a:rPr lang="en-GB" sz="1400" dirty="0"/>
                <a:t>leads to </a:t>
              </a:r>
              <a:r>
                <a:rPr lang="en-GB" sz="1400" b="1" dirty="0"/>
                <a:t>lower success </a:t>
              </a:r>
              <a:r>
                <a:rPr lang="en-GB" sz="1400" dirty="0"/>
                <a:t>rates</a:t>
              </a:r>
              <a:endParaRPr lang="en-GB" sz="1400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b="1" dirty="0"/>
                <a:t>Strong and stable economic periods </a:t>
              </a:r>
              <a:r>
                <a:rPr lang="en-GB" sz="1400" dirty="0"/>
                <a:t>(lower </a:t>
              </a:r>
              <a:r>
                <a:rPr lang="en-GB" sz="1400" dirty="0" err="1"/>
                <a:t>euribor</a:t>
              </a:r>
              <a:r>
                <a:rPr lang="en-GB" sz="1400" dirty="0"/>
                <a:t> rate) tend to be </a:t>
              </a:r>
              <a:r>
                <a:rPr lang="en-GB" sz="1400" b="1" dirty="0"/>
                <a:t>beneficial for customers</a:t>
              </a:r>
              <a:endParaRPr lang="en-GB" sz="1400" dirty="0">
                <a:ea typeface="Calibri"/>
                <a:cs typeface="Calibri"/>
              </a:endParaRPr>
            </a:p>
            <a:p>
              <a:endParaRPr lang="en-GB" sz="1400" b="1" dirty="0">
                <a:ea typeface="Calibri"/>
                <a:cs typeface="Calibri"/>
              </a:endParaRPr>
            </a:p>
            <a:p>
              <a:r>
                <a:rPr lang="en-GB" sz="1400" b="1" dirty="0"/>
                <a:t>Type of contact </a:t>
              </a:r>
              <a:r>
                <a:rPr lang="en-GB" sz="1400" dirty="0"/>
                <a:t>has influence on the campaign success rate:</a:t>
              </a:r>
              <a:endParaRPr lang="en-GB" sz="1400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b="1" dirty="0"/>
                <a:t>Positive outcome </a:t>
              </a:r>
              <a:r>
                <a:rPr lang="en-GB" sz="1400" dirty="0"/>
                <a:t>when contact is made by </a:t>
              </a:r>
              <a:r>
                <a:rPr lang="en-GB" sz="1400" b="1" dirty="0"/>
                <a:t>Cellular</a:t>
              </a:r>
              <a:r>
                <a:rPr lang="en-GB" sz="1400" dirty="0"/>
                <a:t> </a:t>
              </a:r>
              <a:endParaRPr lang="en-GB" sz="1400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b="1" dirty="0"/>
                <a:t>Slightly negative outcome </a:t>
              </a:r>
              <a:r>
                <a:rPr lang="en-GB" sz="1400" dirty="0"/>
                <a:t>when contact is made by </a:t>
              </a:r>
              <a:r>
                <a:rPr lang="en-GB" sz="1400" b="1" dirty="0"/>
                <a:t>Telephone</a:t>
              </a:r>
              <a:endParaRPr lang="en-GB" sz="1400" dirty="0">
                <a:ea typeface="Calibri"/>
                <a:cs typeface="Calibri"/>
              </a:endParaRPr>
            </a:p>
            <a:p>
              <a:endParaRPr lang="en-GB" sz="1400" b="1" dirty="0">
                <a:ea typeface="Calibri"/>
                <a:cs typeface="Calibri"/>
              </a:endParaRPr>
            </a:p>
            <a:p>
              <a:pPr>
                <a:buFont typeface="Arial" panose="020B0604020202020204" pitchFamily="34" charset="0"/>
              </a:pPr>
              <a:r>
                <a:rPr lang="en-GB" sz="1400" b="1" dirty="0"/>
                <a:t>Age </a:t>
              </a:r>
              <a:r>
                <a:rPr lang="en-GB" sz="1400" dirty="0"/>
                <a:t>interaction with </a:t>
              </a:r>
              <a:r>
                <a:rPr lang="en-GB" sz="1400" b="1" dirty="0"/>
                <a:t>employment variation rate </a:t>
              </a:r>
              <a:r>
                <a:rPr lang="en-GB" sz="1400" dirty="0"/>
                <a:t>showcased relevant patterns for </a:t>
              </a:r>
              <a:r>
                <a:rPr lang="en-GB" sz="1400" b="1" dirty="0"/>
                <a:t>targeting groups:</a:t>
              </a:r>
              <a:endParaRPr lang="en-GB" sz="1400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b="1" dirty="0"/>
                <a:t>Older individuals </a:t>
              </a:r>
              <a:r>
                <a:rPr lang="en-GB" sz="1400" dirty="0"/>
                <a:t>even during positive employment variation are averse to commit to long term deposits</a:t>
              </a:r>
              <a:endParaRPr lang="en-GB" sz="140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b="1" dirty="0"/>
                <a:t>Younger individuals </a:t>
              </a:r>
              <a:r>
                <a:rPr lang="en-GB" sz="1400" dirty="0"/>
                <a:t>are keen to sign long term deposits during stable economic periods</a:t>
              </a:r>
              <a:endParaRPr lang="en-GB" sz="1400" dirty="0">
                <a:ea typeface="Calibri"/>
                <a:cs typeface="Calibri"/>
              </a:endParaRPr>
            </a:p>
          </p:txBody>
        </p:sp>
      </p:grpSp>
      <p:pic>
        <p:nvPicPr>
          <p:cNvPr id="13" name="Picture 12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F77BA55F-FC61-3205-006B-24CFBE024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0" t="-41" r="862" b="-164"/>
          <a:stretch>
            <a:fillRect/>
          </a:stretch>
        </p:blipFill>
        <p:spPr>
          <a:xfrm>
            <a:off x="286469" y="2044585"/>
            <a:ext cx="5688941" cy="4317207"/>
          </a:xfrm>
          <a:prstGeom prst="rect">
            <a:avLst/>
          </a:prstGeom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18F0EB-C22A-F896-F96C-F4EFF39E2F42}"/>
              </a:ext>
            </a:extLst>
          </p:cNvPr>
          <p:cNvCxnSpPr>
            <a:cxnSpLocks/>
          </p:cNvCxnSpPr>
          <p:nvPr/>
        </p:nvCxnSpPr>
        <p:spPr>
          <a:xfrm flipV="1">
            <a:off x="4527146" y="1974029"/>
            <a:ext cx="1498159" cy="3115"/>
          </a:xfrm>
          <a:prstGeom prst="line">
            <a:avLst/>
          </a:prstGeom>
          <a:ln w="28575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27BE96-3C47-C1FE-1B13-1A73FF2F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5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ACBF-1347-7529-C045-3B820C3A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6DF04BE-1426-F30E-3A34-3B1AC377B3B9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D24D6E-5C6E-D033-9FB1-3723F32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0"/>
            <a:ext cx="11290867" cy="1510665"/>
          </a:xfrm>
        </p:spPr>
        <p:txBody>
          <a:bodyPr anchor="t"/>
          <a:lstStyle/>
          <a:p>
            <a:pPr algn="l"/>
            <a:r>
              <a:rPr lang="en-US" dirty="0"/>
              <a:t>User-Friendly Predictive App Deployed for Sales Teams</a:t>
            </a:r>
            <a:endParaRPr lang="pt-PT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90A38B-699C-A63F-AC68-9BCA4EF5ACAD}"/>
              </a:ext>
            </a:extLst>
          </p:cNvPr>
          <p:cNvGrpSpPr/>
          <p:nvPr/>
        </p:nvGrpSpPr>
        <p:grpSpPr>
          <a:xfrm>
            <a:off x="176389" y="2172079"/>
            <a:ext cx="2234381" cy="3358545"/>
            <a:chOff x="381000" y="2045079"/>
            <a:chExt cx="2234381" cy="335854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4FA6055-6BE1-92E8-43B0-64437487F637}"/>
                </a:ext>
              </a:extLst>
            </p:cNvPr>
            <p:cNvSpPr/>
            <p:nvPr/>
          </p:nvSpPr>
          <p:spPr>
            <a:xfrm>
              <a:off x="381000" y="2045079"/>
              <a:ext cx="2234381" cy="3166018"/>
            </a:xfrm>
            <a:prstGeom prst="roundRect">
              <a:avLst>
                <a:gd name="adj" fmla="val 40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FFD9A3-92AF-56C0-C597-C80B234BE6BA}"/>
                </a:ext>
              </a:extLst>
            </p:cNvPr>
            <p:cNvSpPr txBox="1"/>
            <p:nvPr/>
          </p:nvSpPr>
          <p:spPr>
            <a:xfrm>
              <a:off x="444500" y="2079637"/>
              <a:ext cx="2110229" cy="33239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/>
                <a:t>Ready for operation </a:t>
              </a:r>
              <a:r>
                <a:rPr lang="en-GB" sz="1400"/>
                <a:t>interface was deployed</a:t>
              </a:r>
              <a:endParaRPr lang="en-GB" sz="1400"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dirty="0"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b="1" dirty="0"/>
                <a:t>Interactive and Practical tool </a:t>
              </a:r>
              <a:r>
                <a:rPr lang="en-GB" sz="1400" dirty="0"/>
                <a:t>suitable for all types of technological users</a:t>
              </a:r>
              <a:endParaRPr lang="en-GB" sz="1400" dirty="0">
                <a:ea typeface="Calibri"/>
                <a:cs typeface="Calibri"/>
              </a:endParaRPr>
            </a:p>
            <a:p>
              <a:endParaRPr lang="en-GB" sz="1400" dirty="0"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u="sng" dirty="0"/>
                <a:t>Sales Teams can use this app to evaluate if a certain Customer should be called or not</a:t>
              </a:r>
              <a:endParaRPr lang="en-GB" sz="1400" u="sng" dirty="0"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dirty="0">
                <a:ea typeface="Calibri"/>
                <a:cs typeface="Calibri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9407F54-6A2F-6351-8680-1BDB17C687AA}"/>
              </a:ext>
            </a:extLst>
          </p:cNvPr>
          <p:cNvSpPr txBox="1"/>
          <p:nvPr/>
        </p:nvSpPr>
        <p:spPr>
          <a:xfrm>
            <a:off x="3088866" y="6081456"/>
            <a:ext cx="601172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pt-PT"/>
              <a:t>PLEASE HAVE A GO!  </a:t>
            </a:r>
            <a:r>
              <a:rPr lang="pt-PT">
                <a:sym typeface="Wingdings" panose="05000000000000000000" pitchFamily="2" charset="2"/>
              </a:rPr>
              <a:t>🤗</a:t>
            </a:r>
            <a:r>
              <a:rPr lang="pt-PT" dirty="0">
                <a:sym typeface="Wingdings" panose="05000000000000000000" pitchFamily="2" charset="2"/>
              </a:rPr>
              <a:t>  </a:t>
            </a:r>
            <a:r>
              <a:rPr lang="en-US" dirty="0">
                <a:hlinkClick r:id="rId3"/>
              </a:rPr>
              <a:t>Bank Telemarketing Predictor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B03B5-C6B7-1F2E-002B-293C7F22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GB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7F5F81-D519-94AE-D75F-5CB44CAFF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722" y="1919870"/>
            <a:ext cx="9510888" cy="39354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646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D905-E2D2-3E48-FC54-6ACB3118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2598BA-8E7C-61E8-A791-11E9FD9DDFDF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DF263C-590C-410F-2A2E-0C4388094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82" y="405761"/>
            <a:ext cx="11290867" cy="1510665"/>
          </a:xfrm>
        </p:spPr>
        <p:txBody>
          <a:bodyPr anchor="t"/>
          <a:lstStyle/>
          <a:p>
            <a:pPr algn="l"/>
            <a:r>
              <a:rPr lang="en-US" dirty="0"/>
              <a:t>Key-take aways and future works</a:t>
            </a:r>
            <a:endParaRPr lang="pt-PT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CBF41B-A000-07B8-398A-989961B8F521}"/>
              </a:ext>
            </a:extLst>
          </p:cNvPr>
          <p:cNvGrpSpPr/>
          <p:nvPr/>
        </p:nvGrpSpPr>
        <p:grpSpPr>
          <a:xfrm>
            <a:off x="479778" y="1918078"/>
            <a:ext cx="11230214" cy="4365462"/>
            <a:chOff x="366889" y="1988634"/>
            <a:chExt cx="11230214" cy="436546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E5FDBD4-CD51-0242-6908-7531FB43246B}"/>
                </a:ext>
              </a:extLst>
            </p:cNvPr>
            <p:cNvSpPr/>
            <p:nvPr/>
          </p:nvSpPr>
          <p:spPr>
            <a:xfrm>
              <a:off x="366889" y="1988634"/>
              <a:ext cx="11230214" cy="4365462"/>
            </a:xfrm>
            <a:prstGeom prst="roundRect">
              <a:avLst>
                <a:gd name="adj" fmla="val 40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E96FAE-CF58-AC67-0284-FEA515DF8BD4}"/>
                </a:ext>
              </a:extLst>
            </p:cNvPr>
            <p:cNvSpPr txBox="1"/>
            <p:nvPr/>
          </p:nvSpPr>
          <p:spPr>
            <a:xfrm>
              <a:off x="468621" y="2158812"/>
              <a:ext cx="11027169" cy="403187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b="1" dirty="0">
                  <a:solidFill>
                    <a:schemeClr val="accent1"/>
                  </a:solidFill>
                </a:rPr>
                <a:t>KEY - TAKE AWAYS :</a:t>
              </a:r>
              <a:endParaRPr lang="en-GB" b="1" dirty="0">
                <a:solidFill>
                  <a:schemeClr val="accent1"/>
                </a:solidFill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u="sng" dirty="0"/>
                <a:t>Banks can use this predictive model to choose the periods of telemarketing campaigns</a:t>
              </a:r>
              <a:r>
                <a:rPr lang="en-GB" sz="1400" dirty="0"/>
                <a:t>;</a:t>
              </a:r>
              <a:endParaRPr lang="en-GB" sz="1400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Avoiding calling during periods of recessions → Reducing costs on Human Resources and  Unwanted Calls</a:t>
              </a:r>
              <a:endParaRPr lang="en-GB" sz="1400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Advantageous to perform and adjust interest rates strategies beforehand anticipating  the number of customers that are willing to accept this campaign</a:t>
              </a:r>
              <a:endParaRPr lang="en-GB" sz="1400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Identifying target groups, mostly by age discrimination, and adapting the long-term deposit rules to their preferences</a:t>
              </a:r>
              <a:endParaRPr lang="en-GB" sz="1400" dirty="0">
                <a:ea typeface="Calibri"/>
                <a:cs typeface="Calibri"/>
              </a:endParaRPr>
            </a:p>
            <a:p>
              <a:pPr lvl="1"/>
              <a:endParaRPr lang="en-GB" sz="1400" dirty="0">
                <a:ea typeface="Calibri"/>
                <a:cs typeface="Calibri"/>
              </a:endParaRPr>
            </a:p>
            <a:p>
              <a:pPr lvl="1"/>
              <a:endParaRPr lang="en-GB" sz="1400" dirty="0">
                <a:ea typeface="Calibri"/>
                <a:cs typeface="Calibri"/>
              </a:endParaRPr>
            </a:p>
            <a:p>
              <a:r>
                <a:rPr lang="en-GB" b="1" dirty="0">
                  <a:solidFill>
                    <a:schemeClr val="accent1"/>
                  </a:solidFill>
                </a:rPr>
                <a:t>FUTURE WORKS:</a:t>
              </a:r>
              <a:endParaRPr lang="en-GB" b="1" dirty="0">
                <a:solidFill>
                  <a:schemeClr val="accent1"/>
                </a:solidFill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Model 2.0:</a:t>
              </a:r>
              <a:endParaRPr lang="en-GB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Group Target identification:  Re-evaluation of input dataset including new attributes such as individual economical attributes</a:t>
              </a:r>
              <a:endParaRPr lang="en-GB" sz="1400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Testing other resampling techniques due to high level of imbalance data and/or having access to more data</a:t>
              </a:r>
              <a:endParaRPr lang="en-GB" sz="1400"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dirty="0">
                <a:ea typeface="Calibri"/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u="sng" dirty="0"/>
                <a:t>Output Integration: </a:t>
              </a:r>
              <a:endParaRPr lang="en-GB" u="sng" dirty="0">
                <a:ea typeface="Calibri"/>
                <a:cs typeface="Calibri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 Integrate Bank Customers DB and Macro Economic Indexes  for automatic scheduling telemarketing campaign</a:t>
              </a:r>
              <a:endParaRPr lang="en-GB" sz="1400">
                <a:ea typeface="Calibri"/>
                <a:cs typeface="Calibri"/>
              </a:endParaRP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Need to provide how long should telemarketing campaign run</a:t>
              </a:r>
              <a:endParaRPr lang="en-GB" sz="1400" dirty="0">
                <a:ea typeface="Calibri"/>
                <a:cs typeface="Calibri"/>
              </a:endParaRP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Minimum number of Long- Term Deposits </a:t>
              </a:r>
              <a:endParaRPr lang="en-GB" sz="1400" dirty="0">
                <a:ea typeface="Calibri"/>
                <a:cs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C683ED-5232-B6AE-7376-B4DCFA25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28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F9EE-3F93-7F91-CA8E-3EFE8C71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4817C737-3807-D4F2-73B4-24C5E959952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2592510-42C1-348E-A491-C4263CFB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817623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1837-E577-DA58-74CE-07D0ABE0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4AEF3379-9BAD-0DBF-2FBF-BFAC7B0A89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0B37829-1800-9084-43E2-3BB91703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err="1"/>
              <a:t>aPPENDix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9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5209-9E3F-B439-09D4-6530B1CD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E9CD4E4-4B7E-BB6E-DD4D-0B6566FEEA56}"/>
              </a:ext>
            </a:extLst>
          </p:cNvPr>
          <p:cNvSpPr/>
          <p:nvPr/>
        </p:nvSpPr>
        <p:spPr>
          <a:xfrm>
            <a:off x="0" y="-16551"/>
            <a:ext cx="12192000" cy="161259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224BAB5-31F6-B855-AF61-1CC7FF4AA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259484"/>
            <a:ext cx="11290300" cy="1511300"/>
          </a:xfrm>
        </p:spPr>
        <p:txBody>
          <a:bodyPr anchor="t"/>
          <a:lstStyle/>
          <a:p>
            <a:pPr algn="l"/>
            <a:r>
              <a:rPr lang="en-US"/>
              <a:t>Numerical distribution</a:t>
            </a:r>
            <a:br>
              <a:rPr lang="en-US"/>
            </a:br>
            <a:r>
              <a:rPr lang="en-US" sz="1800"/>
              <a:t>(AGE, CAMPAIGN, PDAYS)</a:t>
            </a:r>
            <a:endParaRPr lang="pt-PT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3F391-3A45-B285-2728-4FA24F3A517B}"/>
              </a:ext>
            </a:extLst>
          </p:cNvPr>
          <p:cNvSpPr txBox="1"/>
          <p:nvPr/>
        </p:nvSpPr>
        <p:spPr>
          <a:xfrm>
            <a:off x="880279" y="2124220"/>
            <a:ext cx="1841656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400" b="1" i="0" dirty="0">
                <a:effectLst/>
                <a:latin typeface="system-ui"/>
              </a:rPr>
              <a:t>Age</a:t>
            </a:r>
            <a:endParaRPr lang="en-US" dirty="0"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>
              <a:latin typeface="system-ui"/>
            </a:endParaRPr>
          </a:p>
          <a:p>
            <a:pPr algn="l"/>
            <a:endParaRPr lang="en-US" b="0" i="0">
              <a:effectLst/>
              <a:latin typeface="system-ui"/>
            </a:endParaRPr>
          </a:p>
          <a:p>
            <a:pPr algn="l"/>
            <a:r>
              <a:rPr lang="en-US" sz="2400" b="1" i="0" dirty="0">
                <a:effectLst/>
                <a:latin typeface="system-ui"/>
              </a:rPr>
              <a:t>Campaign</a:t>
            </a:r>
            <a:br>
              <a:rPr lang="en-US" b="0" i="0" dirty="0">
                <a:effectLst/>
                <a:latin typeface="system-ui"/>
              </a:rPr>
            </a:br>
            <a:endParaRPr lang="en-US" b="0" i="0">
              <a:effectLst/>
              <a:latin typeface="system-ui"/>
            </a:endParaRPr>
          </a:p>
          <a:p>
            <a:pPr algn="l"/>
            <a:endParaRPr lang="en-US"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>
              <a:effectLst/>
              <a:latin typeface="system-ui"/>
            </a:endParaRPr>
          </a:p>
          <a:p>
            <a:pPr algn="l"/>
            <a:endParaRPr lang="en-US" b="0" i="0">
              <a:effectLst/>
              <a:latin typeface="system-ui"/>
            </a:endParaRPr>
          </a:p>
          <a:p>
            <a:r>
              <a:rPr lang="en-US" sz="2400" b="1" dirty="0" err="1">
                <a:latin typeface="system-ui"/>
              </a:rPr>
              <a:t>pdays</a:t>
            </a:r>
            <a:br>
              <a:rPr lang="en-US" b="0" i="0" dirty="0">
                <a:effectLst/>
                <a:latin typeface="system-ui"/>
              </a:rPr>
            </a:br>
            <a:endParaRPr lang="en-US" b="0" i="0">
              <a:effectLst/>
              <a:latin typeface="system-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B0D52-4905-8065-E9CE-371263EDB9BE}"/>
              </a:ext>
            </a:extLst>
          </p:cNvPr>
          <p:cNvSpPr txBox="1"/>
          <p:nvPr/>
        </p:nvSpPr>
        <p:spPr>
          <a:xfrm>
            <a:off x="7013608" y="5281958"/>
            <a:ext cx="500505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Dominated by the value 999 (no previous contact), effectively making it close to a binary indicator</a:t>
            </a:r>
            <a:endParaRPr lang="pt-PT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7293B-B9FF-5A3E-B53B-F10E9690C5CD}"/>
              </a:ext>
            </a:extLst>
          </p:cNvPr>
          <p:cNvSpPr txBox="1"/>
          <p:nvPr/>
        </p:nvSpPr>
        <p:spPr>
          <a:xfrm>
            <a:off x="6953692" y="3592346"/>
            <a:ext cx="5124893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Highly right-skewed; most customers are contacted only a few times, with a long tail of repeated attempts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BAB004-1596-DBA3-F476-570277299843}"/>
              </a:ext>
            </a:extLst>
          </p:cNvPr>
          <p:cNvSpPr txBox="1"/>
          <p:nvPr/>
        </p:nvSpPr>
        <p:spPr>
          <a:xfrm>
            <a:off x="6953692" y="1988879"/>
            <a:ext cx="5377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  <a:latin typeface="system-ui"/>
              </a:rPr>
              <a:t>Right-skewed, concentrated roughly between 30–50 years</a:t>
            </a:r>
            <a:endParaRPr lang="pt-PT"/>
          </a:p>
        </p:txBody>
      </p:sp>
      <p:pic>
        <p:nvPicPr>
          <p:cNvPr id="18" name="Picture 17" descr="A graph of a distribution of age&#10;&#10;AI-generated content may be incorrect.">
            <a:extLst>
              <a:ext uri="{FF2B5EF4-FFF2-40B4-BE49-F238E27FC236}">
                <a16:creationId xmlns:a16="http://schemas.microsoft.com/office/drawing/2014/main" id="{C67E3EAB-5CEB-E58F-42B4-D9F48B210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523" y="1655674"/>
            <a:ext cx="2496319" cy="1654670"/>
          </a:xfrm>
          <a:prstGeom prst="rect">
            <a:avLst/>
          </a:prstGeom>
        </p:spPr>
      </p:pic>
      <p:pic>
        <p:nvPicPr>
          <p:cNvPr id="20" name="Picture 19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D0442A88-D15E-37B1-1598-2314A36DD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374" y="4977524"/>
            <a:ext cx="2672160" cy="1654671"/>
          </a:xfrm>
          <a:prstGeom prst="rect">
            <a:avLst/>
          </a:prstGeom>
        </p:spPr>
      </p:pic>
      <p:pic>
        <p:nvPicPr>
          <p:cNvPr id="22" name="Picture 21" descr="A graph with a line graph&#10;&#10;AI-generated content may be incorrect.">
            <a:extLst>
              <a:ext uri="{FF2B5EF4-FFF2-40B4-BE49-F238E27FC236}">
                <a16:creationId xmlns:a16="http://schemas.microsoft.com/office/drawing/2014/main" id="{977056C0-3287-B9A6-D6E5-5DB569FCC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603" y="3247434"/>
            <a:ext cx="2672160" cy="173009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E5EFD3-0F16-BBFF-08E8-C2A970F7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307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F6F8-24F1-FBE6-97CE-C307CC68A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9E764FB-4C50-D2D2-F6C8-75D6F3E2F161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CA591D-5FDE-4B5F-A0EC-2C7CC693D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0"/>
            <a:ext cx="11290867" cy="1510665"/>
          </a:xfrm>
        </p:spPr>
        <p:txBody>
          <a:bodyPr anchor="t"/>
          <a:lstStyle/>
          <a:p>
            <a:pPr algn="l"/>
            <a:r>
              <a:rPr lang="en-US" dirty="0"/>
              <a:t>Succes rate by categorical VARIABLE #1</a:t>
            </a:r>
            <a:br>
              <a:rPr lang="en-US" dirty="0"/>
            </a:br>
            <a:r>
              <a:rPr lang="en-US" sz="1800" dirty="0"/>
              <a:t>(contact, </a:t>
            </a:r>
            <a:r>
              <a:rPr lang="en-US" sz="1800" dirty="0" err="1"/>
              <a:t>poutcome</a:t>
            </a:r>
            <a:r>
              <a:rPr lang="en-US" sz="1800" dirty="0"/>
              <a:t>, job, Education)</a:t>
            </a:r>
            <a:endParaRPr lang="pt-PT" sz="1800" dirty="0"/>
          </a:p>
        </p:txBody>
      </p:sp>
      <p:pic>
        <p:nvPicPr>
          <p:cNvPr id="12" name="Picture 11" descr="A graph with blue squares&#10;&#10;AI-generated content may be incorrect.">
            <a:extLst>
              <a:ext uri="{FF2B5EF4-FFF2-40B4-BE49-F238E27FC236}">
                <a16:creationId xmlns:a16="http://schemas.microsoft.com/office/drawing/2014/main" id="{DA0238A9-B734-683B-E4C5-F20C4A188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107" y="1862496"/>
            <a:ext cx="4216617" cy="1987652"/>
          </a:xfrm>
          <a:prstGeom prst="rect">
            <a:avLst/>
          </a:prstGeom>
        </p:spPr>
      </p:pic>
      <p:pic>
        <p:nvPicPr>
          <p:cNvPr id="17" name="Picture 16" descr="A graph with blue squares&#10;&#10;AI-generated content may be incorrect.">
            <a:extLst>
              <a:ext uri="{FF2B5EF4-FFF2-40B4-BE49-F238E27FC236}">
                <a16:creationId xmlns:a16="http://schemas.microsoft.com/office/drawing/2014/main" id="{FF383F15-FFE9-28BB-C222-BB9438D55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082" y="1862496"/>
            <a:ext cx="4343623" cy="1778091"/>
          </a:xfrm>
          <a:prstGeom prst="rect">
            <a:avLst/>
          </a:prstGeom>
        </p:spPr>
      </p:pic>
      <p:pic>
        <p:nvPicPr>
          <p:cNvPr id="19" name="Picture 18" descr="A graph of success rate&#10;&#10;AI-generated content may be incorrect.">
            <a:extLst>
              <a:ext uri="{FF2B5EF4-FFF2-40B4-BE49-F238E27FC236}">
                <a16:creationId xmlns:a16="http://schemas.microsoft.com/office/drawing/2014/main" id="{1CD18CD4-CBA0-A4CF-0E3D-EA26AEC85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2183" y="3962603"/>
            <a:ext cx="4267419" cy="1968601"/>
          </a:xfrm>
          <a:prstGeom prst="rect">
            <a:avLst/>
          </a:prstGeom>
        </p:spPr>
      </p:pic>
      <p:pic>
        <p:nvPicPr>
          <p:cNvPr id="21" name="Picture 20" descr="A graph with blue bars&#10;&#10;AI-generated content may be incorrect.">
            <a:extLst>
              <a:ext uri="{FF2B5EF4-FFF2-40B4-BE49-F238E27FC236}">
                <a16:creationId xmlns:a16="http://schemas.microsoft.com/office/drawing/2014/main" id="{238FEB61-7458-BDC3-CDE7-C01572E6A0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3699" y="4086434"/>
            <a:ext cx="4369025" cy="1720938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E4F1DC8-E8DE-FC61-D354-1472A982CF19}"/>
              </a:ext>
            </a:extLst>
          </p:cNvPr>
          <p:cNvSpPr/>
          <p:nvPr/>
        </p:nvSpPr>
        <p:spPr>
          <a:xfrm>
            <a:off x="179481" y="2403989"/>
            <a:ext cx="2390400" cy="3364890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Cellular and Successful outcomes in previous campaign tend to contribute to a successful subscription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Student and Retire people tend to adhere more Long-Term subscriptions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2E1A6E-4C2F-0B25-712B-A82B7D58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862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1951B-3CD8-9AB1-7D33-297DDA7D0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AC62AC-4528-F7D9-A76B-152EA2FA486B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D66509-6355-787A-CE12-77545D087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0"/>
            <a:ext cx="11290867" cy="1510665"/>
          </a:xfrm>
        </p:spPr>
        <p:txBody>
          <a:bodyPr anchor="t"/>
          <a:lstStyle/>
          <a:p>
            <a:pPr algn="l"/>
            <a:r>
              <a:rPr lang="en-US" dirty="0"/>
              <a:t>Succes rate by categorical VARIABLE #2</a:t>
            </a:r>
            <a:br>
              <a:rPr lang="en-US" dirty="0"/>
            </a:br>
            <a:r>
              <a:rPr lang="en-US" sz="1800" dirty="0"/>
              <a:t>(Housing, loan, Marital, default)</a:t>
            </a:r>
            <a:endParaRPr lang="pt-PT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F6CDF8-2A8C-B929-3BD7-9252999A4D7F}"/>
              </a:ext>
            </a:extLst>
          </p:cNvPr>
          <p:cNvSpPr/>
          <p:nvPr/>
        </p:nvSpPr>
        <p:spPr>
          <a:xfrm>
            <a:off x="192169" y="2367219"/>
            <a:ext cx="2582598" cy="3324888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Distribution of Housing, Loan, marital does not show high influence on target behaviour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Default has no influence on target variable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pic>
        <p:nvPicPr>
          <p:cNvPr id="8" name="Picture 7" descr="A graph with blue squares&#10;&#10;AI-generated content may be incorrect.">
            <a:extLst>
              <a:ext uri="{FF2B5EF4-FFF2-40B4-BE49-F238E27FC236}">
                <a16:creationId xmlns:a16="http://schemas.microsoft.com/office/drawing/2014/main" id="{0E150761-0F56-AB34-D157-33C33F20E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240" y="2213142"/>
            <a:ext cx="4178515" cy="1600282"/>
          </a:xfrm>
          <a:prstGeom prst="rect">
            <a:avLst/>
          </a:prstGeom>
        </p:spPr>
      </p:pic>
      <p:pic>
        <p:nvPicPr>
          <p:cNvPr id="10" name="Picture 9" descr="A graph with blue squares&#10;&#10;AI-generated content may be incorrect.">
            <a:extLst>
              <a:ext uri="{FF2B5EF4-FFF2-40B4-BE49-F238E27FC236}">
                <a16:creationId xmlns:a16="http://schemas.microsoft.com/office/drawing/2014/main" id="{43BA1468-BE83-30CB-85C4-4F515ADFD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6934" y="4029663"/>
            <a:ext cx="4292821" cy="1816193"/>
          </a:xfrm>
          <a:prstGeom prst="rect">
            <a:avLst/>
          </a:prstGeom>
        </p:spPr>
      </p:pic>
      <p:pic>
        <p:nvPicPr>
          <p:cNvPr id="12" name="Picture 11" descr="A graph of a success rate&#10;&#10;AI-generated content may be incorrect.">
            <a:extLst>
              <a:ext uri="{FF2B5EF4-FFF2-40B4-BE49-F238E27FC236}">
                <a16:creationId xmlns:a16="http://schemas.microsoft.com/office/drawing/2014/main" id="{6EBA234A-CB59-4684-2D47-A310EDA2C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5112" y="2143288"/>
            <a:ext cx="4254719" cy="1739989"/>
          </a:xfrm>
          <a:prstGeom prst="rect">
            <a:avLst/>
          </a:prstGeom>
        </p:spPr>
      </p:pic>
      <p:pic>
        <p:nvPicPr>
          <p:cNvPr id="14" name="Picture 13" descr="A graph with blue squares&#10;&#10;AI-generated content may be incorrect.">
            <a:extLst>
              <a:ext uri="{FF2B5EF4-FFF2-40B4-BE49-F238E27FC236}">
                <a16:creationId xmlns:a16="http://schemas.microsoft.com/office/drawing/2014/main" id="{BD579E34-2390-37A8-0128-9ACAFDD30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586" y="4029663"/>
            <a:ext cx="4273770" cy="173363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94333E-CC0F-7DE6-019C-FA435D80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489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16B9-4DD4-063B-D9B2-ED5E1446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10B5264-6257-8C15-1CD9-8E38F3B00650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3FD860-06BF-288A-DCC8-9839EF55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0"/>
            <a:ext cx="11290867" cy="1510665"/>
          </a:xfrm>
        </p:spPr>
        <p:txBody>
          <a:bodyPr anchor="t"/>
          <a:lstStyle/>
          <a:p>
            <a:pPr algn="l"/>
            <a:r>
              <a:rPr lang="en-US" dirty="0"/>
              <a:t>Succes rate by categorical VARIABLE #3</a:t>
            </a:r>
            <a:br>
              <a:rPr lang="en-US" dirty="0"/>
            </a:br>
            <a:r>
              <a:rPr lang="en-US" sz="1800" dirty="0"/>
              <a:t>(month, day of week)</a:t>
            </a:r>
            <a:endParaRPr lang="pt-PT" sz="1800" dirty="0"/>
          </a:p>
        </p:txBody>
      </p:sp>
      <p:pic>
        <p:nvPicPr>
          <p:cNvPr id="15" name="Picture 14" descr="A graph with blue bars&#10;&#10;AI-generated content may be incorrect.">
            <a:extLst>
              <a:ext uri="{FF2B5EF4-FFF2-40B4-BE49-F238E27FC236}">
                <a16:creationId xmlns:a16="http://schemas.microsoft.com/office/drawing/2014/main" id="{2F1C6E2B-48B4-032D-327C-0EBEF9004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986" y="1908216"/>
            <a:ext cx="5109340" cy="2072657"/>
          </a:xfrm>
          <a:prstGeom prst="rect">
            <a:avLst/>
          </a:prstGeom>
        </p:spPr>
      </p:pic>
      <p:pic>
        <p:nvPicPr>
          <p:cNvPr id="17" name="Picture 16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7E7EA2C9-E381-C999-D889-8A42B1D64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986" y="4052192"/>
            <a:ext cx="5257412" cy="2302426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980E7B4-EDA9-EDA0-7C60-2204B9CC270A}"/>
              </a:ext>
            </a:extLst>
          </p:cNvPr>
          <p:cNvSpPr/>
          <p:nvPr/>
        </p:nvSpPr>
        <p:spPr>
          <a:xfrm>
            <a:off x="192169" y="2367219"/>
            <a:ext cx="2582598" cy="3324888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Uneven Distribution of success rate by Month( more prevalent) and day of the Week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Potentially need to assure a numerical encoding without losing cyclical characteristic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3CBA34-B579-D784-3DDF-71EA41FC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513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0EAA-DA3C-5589-AC3A-CF4FA1F3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01264B3-2FF8-06C5-4BC5-3BE0BB9B71B9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379D5D-1C39-9B59-3EF6-CBC9389C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0"/>
            <a:ext cx="11290867" cy="1510665"/>
          </a:xfrm>
        </p:spPr>
        <p:txBody>
          <a:bodyPr anchor="t"/>
          <a:lstStyle/>
          <a:p>
            <a:pPr algn="l"/>
            <a:r>
              <a:rPr lang="en-US"/>
              <a:t>Succes rate by NUMERICAL VARIABLES #1</a:t>
            </a:r>
            <a:br>
              <a:rPr lang="en-US"/>
            </a:br>
            <a:r>
              <a:rPr lang="en-US" sz="1800"/>
              <a:t>(AGE, DURATION, CAMPAIGN, PDAYS, PREVIOUS, EMP_VAR_RATE)</a:t>
            </a:r>
            <a:endParaRPr lang="pt-PT" sz="1800"/>
          </a:p>
        </p:txBody>
      </p:sp>
      <p:pic>
        <p:nvPicPr>
          <p:cNvPr id="6" name="Picture 5" descr="A group of blue and black graphs&#10;&#10;AI-generated content may be incorrect.">
            <a:extLst>
              <a:ext uri="{FF2B5EF4-FFF2-40B4-BE49-F238E27FC236}">
                <a16:creationId xmlns:a16="http://schemas.microsoft.com/office/drawing/2014/main" id="{A08F8C8A-EE4C-3E9A-EFDD-EAE035615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653" y="1972871"/>
            <a:ext cx="8693597" cy="391180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5112DA-5758-5959-C82D-5DEDB24B8CC3}"/>
              </a:ext>
            </a:extLst>
          </p:cNvPr>
          <p:cNvSpPr/>
          <p:nvPr/>
        </p:nvSpPr>
        <p:spPr>
          <a:xfrm>
            <a:off x="192169" y="2367219"/>
            <a:ext cx="2582598" cy="3324888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PT" sz="1400" dirty="0">
              <a:solidFill>
                <a:schemeClr val="accent5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pt-PT" sz="1400" dirty="0">
                <a:solidFill>
                  <a:schemeClr val="accent5"/>
                </a:solidFill>
              </a:rPr>
              <a:t>Higher tendency for older individuals to adhere to subscribe to Long-Term;</a:t>
            </a:r>
          </a:p>
          <a:p>
            <a:pPr marL="342900" indent="-342900">
              <a:buFont typeface="+mj-lt"/>
              <a:buAutoNum type="arabicPeriod"/>
            </a:pPr>
            <a:endParaRPr lang="pt-PT" sz="1400" dirty="0">
              <a:solidFill>
                <a:schemeClr val="accent5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pt-PT" sz="1400" dirty="0">
                <a:solidFill>
                  <a:schemeClr val="accent5"/>
                </a:solidFill>
              </a:rPr>
              <a:t>Duration of call clearly influences the likelihood of campaign success: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5"/>
                </a:solidFill>
              </a:rPr>
              <a:t>Shorter calls are more likely to lead to failure;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5"/>
              </a:solidFill>
            </a:endParaRPr>
          </a:p>
          <a:p>
            <a:endParaRPr lang="pt-PT" sz="1400" dirty="0">
              <a:solidFill>
                <a:schemeClr val="accent5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7731C5-D0B2-428F-337E-1DE128B9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517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29F3A-9534-BBA0-9E8E-C5E69E28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9786718-6B80-8C33-4C1A-8DCA66798E0B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5CD91A-CA7C-5DB8-AB5C-0532B47D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500"/>
            <a:ext cx="11290867" cy="1510665"/>
          </a:xfrm>
        </p:spPr>
        <p:txBody>
          <a:bodyPr anchor="t"/>
          <a:lstStyle/>
          <a:p>
            <a:pPr algn="l"/>
            <a:r>
              <a:rPr lang="en-US" dirty="0"/>
              <a:t>Succes rate by NUMERICAL VARIABLES #2</a:t>
            </a:r>
            <a:br>
              <a:rPr lang="en-US" dirty="0"/>
            </a:br>
            <a:r>
              <a:rPr lang="en-US" sz="1800" dirty="0"/>
              <a:t>(CONS_PRICE_IDX, CONS_CONF_IDX,EURIBOR3M, NR_EMPLOYED)</a:t>
            </a:r>
            <a:endParaRPr lang="pt-PT" sz="1800" dirty="0"/>
          </a:p>
        </p:txBody>
      </p:sp>
      <p:pic>
        <p:nvPicPr>
          <p:cNvPr id="3" name="Picture 2" descr="A comparison of a graph&#10;&#10;AI-generated content may be incorrect.">
            <a:extLst>
              <a:ext uri="{FF2B5EF4-FFF2-40B4-BE49-F238E27FC236}">
                <a16:creationId xmlns:a16="http://schemas.microsoft.com/office/drawing/2014/main" id="{EC98CB84-0ECB-612B-8EE2-3A3D76B76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103" y="1908216"/>
            <a:ext cx="6611830" cy="2203943"/>
          </a:xfrm>
          <a:prstGeom prst="rect">
            <a:avLst/>
          </a:prstGeom>
        </p:spPr>
      </p:pic>
      <p:pic>
        <p:nvPicPr>
          <p:cNvPr id="7" name="Picture 6" descr="A graph of blue squares&#10;&#10;AI-generated content may be incorrect.">
            <a:extLst>
              <a:ext uri="{FF2B5EF4-FFF2-40B4-BE49-F238E27FC236}">
                <a16:creationId xmlns:a16="http://schemas.microsoft.com/office/drawing/2014/main" id="{81219D6B-05A7-896D-54C1-2B7C42D05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405" y="4108922"/>
            <a:ext cx="3098056" cy="2133566"/>
          </a:xfrm>
          <a:prstGeom prst="rect">
            <a:avLst/>
          </a:prstGeom>
        </p:spPr>
      </p:pic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AC2903D3-C173-22F0-F784-3E60A092D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075" y="4108923"/>
            <a:ext cx="3239858" cy="213356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2B716D-57AA-4510-078F-FD256B47328F}"/>
              </a:ext>
            </a:extLst>
          </p:cNvPr>
          <p:cNvSpPr/>
          <p:nvPr/>
        </p:nvSpPr>
        <p:spPr>
          <a:xfrm>
            <a:off x="227610" y="2069506"/>
            <a:ext cx="2912538" cy="4300281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PT" sz="1400" dirty="0">
              <a:solidFill>
                <a:schemeClr val="accent5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pt-PT" sz="1400" dirty="0">
                <a:solidFill>
                  <a:schemeClr val="accent5"/>
                </a:solidFill>
              </a:rPr>
              <a:t>Big variance across all macro economics variables, meaning that each factor is not  discriminative by himself;</a:t>
            </a:r>
          </a:p>
          <a:p>
            <a:pPr marL="342900" indent="-342900">
              <a:buFont typeface="+mj-lt"/>
              <a:buAutoNum type="arabicPeriod"/>
            </a:pPr>
            <a:endParaRPr lang="pt-PT" sz="1400" dirty="0">
              <a:solidFill>
                <a:schemeClr val="accent5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pt-PT" sz="1400" dirty="0">
              <a:solidFill>
                <a:schemeClr val="accent5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pt-PT" sz="1400" dirty="0">
                <a:solidFill>
                  <a:schemeClr val="accent5"/>
                </a:solidFill>
              </a:rPr>
              <a:t>Euribor3m have higher discrimination power. Where positive outcomes tend to occur when euribor is low and negative outcomes when euribor rates are high;</a:t>
            </a:r>
          </a:p>
          <a:p>
            <a:pPr marL="342900" indent="-342900">
              <a:buFont typeface="+mj-lt"/>
              <a:buAutoNum type="arabicPeriod"/>
            </a:pPr>
            <a:endParaRPr lang="pt-PT" sz="1400" dirty="0">
              <a:solidFill>
                <a:schemeClr val="accent5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pt-PT" sz="1400" dirty="0">
                <a:solidFill>
                  <a:schemeClr val="accent5"/>
                </a:solidFill>
              </a:rPr>
              <a:t>Number of employed also shows to have impact on target variable;</a:t>
            </a:r>
          </a:p>
          <a:p>
            <a:endParaRPr lang="pt-PT" sz="1400" dirty="0">
              <a:solidFill>
                <a:schemeClr val="accent5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pt-PT" sz="1400" dirty="0">
              <a:solidFill>
                <a:schemeClr val="accent5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pt-PT" sz="1400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83363-E229-237D-C779-95D6A641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169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5D8D-4AC2-929A-3ED8-1E5125D4E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ED78503-7148-DE41-18AE-AB3348BE798C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4416C-A14B-8CED-FAF3-B3B3E167C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15" y="608091"/>
            <a:ext cx="11290867" cy="1510665"/>
          </a:xfrm>
        </p:spPr>
        <p:txBody>
          <a:bodyPr anchor="t"/>
          <a:lstStyle/>
          <a:p>
            <a:pPr algn="l"/>
            <a:r>
              <a:rPr lang="en-US"/>
              <a:t>CATEGORICAL FEATURE ASSOCIATION</a:t>
            </a:r>
            <a:endParaRPr lang="pt-PT" sz="18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53390E9-61C0-D7E7-A76B-AE9A4C518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08216"/>
            <a:ext cx="5782894" cy="434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D8E8DC-2B52-2301-76C4-A06088E3FCCB}"/>
              </a:ext>
            </a:extLst>
          </p:cNvPr>
          <p:cNvSpPr/>
          <p:nvPr/>
        </p:nvSpPr>
        <p:spPr>
          <a:xfrm>
            <a:off x="614918" y="1998046"/>
            <a:ext cx="3648740" cy="4251863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Housing vs Loan has a strong relationship (0.71) revealing that most people that contract a housing loan also adhere more to contract personal loans;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Contac vs Month  show a high level of relationship, revealing an operational choice on when and how to call customer;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chemeClr val="accent5"/>
                </a:solidFill>
              </a:rPr>
              <a:t>Poutcome</a:t>
            </a:r>
            <a:r>
              <a:rPr lang="en-GB" sz="1400" dirty="0">
                <a:solidFill>
                  <a:schemeClr val="accent5"/>
                </a:solidFill>
              </a:rPr>
              <a:t> and target variable have a relevant relationship demonstrating that customers with previous successful campaigns tend to adhere more to new ones;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Education and Job, has expected, demonstrate a relevant strength between themselves;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3D3967-2D71-A50F-E8C2-204D1B6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481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CA740-559E-B99D-003C-FF8E7B18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68827A0-6B9F-BE98-4DC4-F9197BCC5424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46CDF0-2E63-91A3-323C-43C10054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15" y="608091"/>
            <a:ext cx="11290867" cy="1510665"/>
          </a:xfrm>
        </p:spPr>
        <p:txBody>
          <a:bodyPr anchor="t"/>
          <a:lstStyle/>
          <a:p>
            <a:pPr algn="l"/>
            <a:r>
              <a:rPr lang="en-US" dirty="0"/>
              <a:t>numerical FEATURE ASSOCIATION</a:t>
            </a:r>
            <a:endParaRPr lang="pt-PT" sz="1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5635AB-D1C9-CBA5-F55F-A801AA67CADE}"/>
              </a:ext>
            </a:extLst>
          </p:cNvPr>
          <p:cNvSpPr/>
          <p:nvPr/>
        </p:nvSpPr>
        <p:spPr>
          <a:xfrm>
            <a:off x="628465" y="2865034"/>
            <a:ext cx="3648740" cy="2431714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Most Variables are independent and  mutually exclusive;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accent5"/>
                </a:solidFill>
              </a:rPr>
              <a:t>Strong correlation between Macro Economic Factors: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5"/>
                </a:solidFill>
              </a:rPr>
              <a:t>Use of Principal Component Analysis to reduce dimensionality could be beneficial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60D8109-AE70-F722-8633-0DEA921E2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730" y="1814711"/>
            <a:ext cx="5818738" cy="4739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B0F3CB-4CFA-A656-372F-BC9526FA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13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8109-32AF-0515-5FC4-7A04A45E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5C72191-F811-B6AA-C2F7-53A1E08BA6CA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	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37502ED-98C5-70F5-DB34-B475F48F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65" y="189865"/>
            <a:ext cx="11291888" cy="1511300"/>
          </a:xfrm>
        </p:spPr>
        <p:txBody>
          <a:bodyPr anchor="t"/>
          <a:lstStyle/>
          <a:p>
            <a:pPr algn="l"/>
            <a:r>
              <a:rPr lang="en-US" dirty="0"/>
              <a:t>Principal component Analysis</a:t>
            </a:r>
            <a:br>
              <a:rPr lang="en-US" dirty="0"/>
            </a:br>
            <a:r>
              <a:rPr lang="en-US" sz="1600" dirty="0"/>
              <a:t>(Macroeconomic indicators)</a:t>
            </a:r>
            <a:br>
              <a:rPr lang="en-US" dirty="0"/>
            </a:br>
            <a:endParaRPr lang="pt-PT"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B8A11C-3383-FF68-90EC-7520A9E5F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406" y="1907581"/>
            <a:ext cx="7432131" cy="445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77E921-B461-B174-6EE0-BBBD3846BE11}"/>
              </a:ext>
            </a:extLst>
          </p:cNvPr>
          <p:cNvSpPr/>
          <p:nvPr/>
        </p:nvSpPr>
        <p:spPr>
          <a:xfrm>
            <a:off x="559239" y="2218267"/>
            <a:ext cx="2672698" cy="4047065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lvl="1"/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B32041-3BA9-66DC-5AD9-3867D93E86E9}"/>
              </a:ext>
            </a:extLst>
          </p:cNvPr>
          <p:cNvSpPr txBox="1"/>
          <p:nvPr/>
        </p:nvSpPr>
        <p:spPr>
          <a:xfrm>
            <a:off x="630787" y="2364362"/>
            <a:ext cx="252960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5"/>
                </a:solidFill>
              </a:rPr>
              <a:t>Macro-economic variables are highly correlated with themselves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5"/>
                </a:solidFill>
              </a:rPr>
              <a:t>The firs 2 PCA features can explain over 90% of Explained Variance of Macroeconomic Features;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5"/>
                </a:solidFill>
              </a:rPr>
              <a:t>Decision:</a:t>
            </a:r>
          </a:p>
          <a:p>
            <a:pPr lvl="1"/>
            <a:r>
              <a:rPr lang="pt-PT" sz="1400" dirty="0">
                <a:solidFill>
                  <a:schemeClr val="accent5"/>
                </a:solidFill>
              </a:rPr>
              <a:t>Use the first 2 PCA variables instead of </a:t>
            </a:r>
            <a:r>
              <a:rPr lang="pt-PT" sz="1400" b="1" dirty="0">
                <a:solidFill>
                  <a:schemeClr val="accent5"/>
                </a:solidFill>
              </a:rPr>
              <a:t>Euribor_3m, Emp_var_rate</a:t>
            </a:r>
            <a:r>
              <a:rPr lang="pt-PT" sz="1400" dirty="0">
                <a:solidFill>
                  <a:schemeClr val="accent5"/>
                </a:solidFill>
              </a:rPr>
              <a:t>,  </a:t>
            </a:r>
            <a:r>
              <a:rPr lang="pt-PT" sz="1400" b="1" dirty="0">
                <a:solidFill>
                  <a:schemeClr val="accent5"/>
                </a:solidFill>
              </a:rPr>
              <a:t>cons_price_idx</a:t>
            </a:r>
            <a:r>
              <a:rPr lang="pt-PT" sz="1400" dirty="0">
                <a:solidFill>
                  <a:schemeClr val="accent5"/>
                </a:solidFill>
              </a:rPr>
              <a:t>, </a:t>
            </a:r>
            <a:r>
              <a:rPr lang="pt-PT" sz="1400" b="1" dirty="0">
                <a:solidFill>
                  <a:schemeClr val="accent5"/>
                </a:solidFill>
              </a:rPr>
              <a:t>nr_employed</a:t>
            </a:r>
          </a:p>
          <a:p>
            <a:pPr lvl="1"/>
            <a:endParaRPr lang="pt-PT" sz="1400" dirty="0">
              <a:solidFill>
                <a:schemeClr val="accent5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988DD-8FA9-0A6D-AAB8-E2B0B1F3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872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731AC-9930-3AD2-82EF-881ED955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AFE1659-68A3-C9AC-D75D-7E2B7DA4F81B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	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37ACBAA-FDE2-FBDE-348B-A80AC886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65" y="189865"/>
            <a:ext cx="11291888" cy="1511300"/>
          </a:xfrm>
        </p:spPr>
        <p:txBody>
          <a:bodyPr anchor="t"/>
          <a:lstStyle/>
          <a:p>
            <a:pPr algn="l"/>
            <a:r>
              <a:rPr lang="en-US" dirty="0"/>
              <a:t>XGBOOST: threshold optimization to enhance f1 score</a:t>
            </a:r>
            <a:br>
              <a:rPr lang="en-US" dirty="0"/>
            </a:br>
            <a:endParaRPr lang="pt-PT" sz="1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52EFDA-3692-0914-EF2F-638383E2EA5C}"/>
              </a:ext>
            </a:extLst>
          </p:cNvPr>
          <p:cNvSpPr/>
          <p:nvPr/>
        </p:nvSpPr>
        <p:spPr>
          <a:xfrm>
            <a:off x="559239" y="2218267"/>
            <a:ext cx="2672698" cy="4047065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lvl="1"/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769EB7-1EBF-100B-94CF-80B9B2457DE8}"/>
              </a:ext>
            </a:extLst>
          </p:cNvPr>
          <p:cNvSpPr txBox="1"/>
          <p:nvPr/>
        </p:nvSpPr>
        <p:spPr>
          <a:xfrm>
            <a:off x="630787" y="2688778"/>
            <a:ext cx="2529602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5"/>
                </a:solidFill>
              </a:rPr>
              <a:t>For Bank Telemarketing campaign the capability of predicting Positive Outcomes is of extreme importance ( identifying when and whom to call)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5"/>
                </a:solidFill>
              </a:rPr>
              <a:t>Use of optimize threshold is suitable to increase F1 score in detriment to accuracy;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5"/>
                </a:solidFill>
              </a:rPr>
              <a:t>Model will predict a </a:t>
            </a:r>
            <a:r>
              <a:rPr lang="en-GB" sz="1400">
                <a:solidFill>
                  <a:schemeClr val="accent5"/>
                </a:solidFill>
              </a:rPr>
              <a:t>successful</a:t>
            </a:r>
            <a:r>
              <a:rPr lang="en-GB" sz="1400" dirty="0">
                <a:solidFill>
                  <a:schemeClr val="accent5"/>
                </a:solidFill>
              </a:rPr>
              <a:t> case if probability is above 0.4</a:t>
            </a:r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4FB4C9-CEB9-1735-529F-372F10C2C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587" y="1792768"/>
            <a:ext cx="7454274" cy="447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6126C-4F82-7A87-175C-48515678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046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3B96-D699-8445-9698-C33FF56B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E4C6D03-DCE0-447D-0AAE-BEBB0ABEEA65}"/>
              </a:ext>
            </a:extLst>
          </p:cNvPr>
          <p:cNvSpPr/>
          <p:nvPr/>
        </p:nvSpPr>
        <p:spPr>
          <a:xfrm>
            <a:off x="0" y="-16551"/>
            <a:ext cx="12192000" cy="17177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	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DE9C5ED-82DA-FF38-6228-213385D9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65" y="189865"/>
            <a:ext cx="11291888" cy="1511300"/>
          </a:xfrm>
        </p:spPr>
        <p:txBody>
          <a:bodyPr anchor="t"/>
          <a:lstStyle/>
          <a:p>
            <a:pPr algn="l"/>
            <a:r>
              <a:rPr lang="en-US" dirty="0"/>
              <a:t>XGBOOST: SHAP ANALYSIS - WHICH FEATURES INFLUENCE THE MOST...</a:t>
            </a:r>
            <a:br>
              <a:rPr lang="en-US" dirty="0"/>
            </a:br>
            <a:endParaRPr lang="pt-PT" sz="1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4B0518-0085-52E6-B5B0-3EBE7A8A17A0}"/>
              </a:ext>
            </a:extLst>
          </p:cNvPr>
          <p:cNvSpPr/>
          <p:nvPr/>
        </p:nvSpPr>
        <p:spPr>
          <a:xfrm>
            <a:off x="559239" y="2218267"/>
            <a:ext cx="2672698" cy="4047065"/>
          </a:xfrm>
          <a:prstGeom prst="roundRect">
            <a:avLst>
              <a:gd name="adj" fmla="val 53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lvl="1"/>
            <a:endParaRPr lang="en-GB" sz="1400" dirty="0">
              <a:solidFill>
                <a:schemeClr val="accent5"/>
              </a:solidFill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330972-6169-B37B-CFBD-7ACF8AA27FE7}"/>
              </a:ext>
            </a:extLst>
          </p:cNvPr>
          <p:cNvSpPr txBox="1"/>
          <p:nvPr/>
        </p:nvSpPr>
        <p:spPr>
          <a:xfrm>
            <a:off x="630787" y="2687527"/>
            <a:ext cx="252960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5"/>
                </a:solidFill>
              </a:rPr>
              <a:t>Macro economic variables contribute (top 3 features) contribute highly for the outcome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5"/>
                </a:solidFill>
              </a:rPr>
              <a:t>Contact and Age_emp_Rate also have a signficant impact on the prediction;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accent5"/>
                </a:solidFill>
              </a:rPr>
              <a:t>Features like Job_Age, pdays, poutcome and month_cos are the least impactful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416A1-8D64-C041-99E8-A3E09B47B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333" y="2046717"/>
            <a:ext cx="5342474" cy="430901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1FCFA3-846B-7CBD-A170-C82ECF76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1616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R_METADATA_KEY" val="0fc82ba9-a7ed-412c-9375-6b7b2dfa9f04"/>
</p:tagLst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A92CA952D8C54E9A457D3A39DA53F6" ma:contentTypeVersion="5" ma:contentTypeDescription="Create a new document." ma:contentTypeScope="" ma:versionID="17d8db4aea4acf5fee23ae267008e8ac">
  <xsd:schema xmlns:xsd="http://www.w3.org/2001/XMLSchema" xmlns:xs="http://www.w3.org/2001/XMLSchema" xmlns:p="http://schemas.microsoft.com/office/2006/metadata/properties" xmlns:ns3="e8afadb3-2d2c-48b2-84dd-fc2344dbe9b2" targetNamespace="http://schemas.microsoft.com/office/2006/metadata/properties" ma:root="true" ma:fieldsID="1f6ae5d7223e9980f9225bdbef0d046f" ns3:_="">
    <xsd:import namespace="e8afadb3-2d2c-48b2-84dd-fc2344dbe9b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fadb3-2d2c-48b2-84dd-fc2344dbe9b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afadb3-2d2c-48b2-84dd-fc2344dbe9b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DCB94F-D71E-4047-A44F-962BEADEEA03}">
  <ds:schemaRefs>
    <ds:schemaRef ds:uri="e8afadb3-2d2c-48b2-84dd-fc2344dbe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purl.org/dc/terms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e8afadb3-2d2c-48b2-84dd-fc2344dbe9b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{92E66ECF-3FEF-43C8-A6F6-087AB637581C}TFb73f27a7-0404-48d9-96f8-0ca8d35477ec68e4afe9_win32-7b62b493978d</Template>
  <TotalTime>43</TotalTime>
  <Words>2351</Words>
  <Application>Microsoft Office PowerPoint</Application>
  <PresentationFormat>Widescreen</PresentationFormat>
  <Paragraphs>478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system-ui</vt:lpstr>
      <vt:lpstr>Wingdings</vt:lpstr>
      <vt:lpstr>Custom</vt:lpstr>
      <vt:lpstr>ENTERPRISE DATA SCIENCE BOOTCAMP  predicting the success of bank telemarketing campaigns</vt:lpstr>
      <vt:lpstr>telemarketing campaign optimization:  Who should we call? And when?  This project identifies bank customers most likely to subscribe to long-term deposit products, helping improve campaign efficiency and conversion rates</vt:lpstr>
      <vt:lpstr>How can banks turn low-yield telemarketing campaigns into data-driven success stories?</vt:lpstr>
      <vt:lpstr>PowerPoint Presentation</vt:lpstr>
      <vt:lpstr>MODELLING WORKFLOW: FROM DATA EXPLORATION TO MODEL DEPLOYMENT</vt:lpstr>
      <vt:lpstr>Key data patterns guided targeted feature engineering—transformations, encoding, and new features to improve predictive power</vt:lpstr>
      <vt:lpstr>Modelling Approach: From a baseline model to a pipeline process</vt:lpstr>
      <vt:lpstr>Results —XGBoost achieved the best overall performance, handling imbalance and capturing complex patterns in the data...</vt:lpstr>
      <vt:lpstr>Key predictive features in the final xgboost model</vt:lpstr>
      <vt:lpstr>User-Friendly Predictive App Deployed for Sales Teams</vt:lpstr>
      <vt:lpstr>Key-take aways and future works</vt:lpstr>
      <vt:lpstr>The end</vt:lpstr>
      <vt:lpstr>aPPENDix</vt:lpstr>
      <vt:lpstr>Numerical distribution (AGE, CAMPAIGN, PDAYS)</vt:lpstr>
      <vt:lpstr>Succes rate by categorical VARIABLE #1 (contact, poutcome, job, Education)</vt:lpstr>
      <vt:lpstr>Succes rate by categorical VARIABLE #2 (Housing, loan, Marital, default)</vt:lpstr>
      <vt:lpstr>Succes rate by categorical VARIABLE #3 (month, day of week)</vt:lpstr>
      <vt:lpstr>Succes rate by NUMERICAL VARIABLES #1 (AGE, DURATION, CAMPAIGN, PDAYS, PREVIOUS, EMP_VAR_RATE)</vt:lpstr>
      <vt:lpstr>Succes rate by NUMERICAL VARIABLES #2 (CONS_PRICE_IDX, CONS_CONF_IDX,EURIBOR3M, NR_EMPLOYED)</vt:lpstr>
      <vt:lpstr>CATEGORICAL FEATURE ASSOCIATION</vt:lpstr>
      <vt:lpstr>numerical FEATURE ASSOCIATION</vt:lpstr>
      <vt:lpstr>Principal component Analysis (Macroeconomic indicators) </vt:lpstr>
      <vt:lpstr>XGBOOST: threshold optimization to enhance f1 score </vt:lpstr>
      <vt:lpstr>XGBOOST: SHAP ANALYSIS - WHICH FEATURES INFLUENCE THE MOST...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Lobo Moutinho</dc:creator>
  <cp:lastModifiedBy>PEDRO BOTO</cp:lastModifiedBy>
  <cp:revision>971</cp:revision>
  <dcterms:created xsi:type="dcterms:W3CDTF">2025-11-15T12:57:09Z</dcterms:created>
  <dcterms:modified xsi:type="dcterms:W3CDTF">2025-12-07T16:59:56Z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0x010100CEA92CA952D8C54E9A457D3A39DA53F6</vt:lpwstr>
  </property>
  <property fmtid="{D5CDD505-2E9C-101B-9397-08002B2CF9AE}" pid="3" name="MediaServiceImageTags">
    <vt:lpwstr/>
  </property>
  <property fmtid="{D5CDD505-2E9C-101B-9397-08002B2CF9AE}" pid="4" name="MSIP_Label_9811530c-902c-4b75-8616-d6c82cd1332a_Enabled">
    <vt:lpwstr>true</vt:lpwstr>
  </property>
  <property fmtid="{D5CDD505-2E9C-101B-9397-08002B2CF9AE}" pid="5" name="MSIP_Label_9811530c-902c-4b75-8616-d6c82cd1332a_SetDate">
    <vt:lpwstr>2025-12-07T16:57:38Z</vt:lpwstr>
  </property>
  <property fmtid="{D5CDD505-2E9C-101B-9397-08002B2CF9AE}" pid="6" name="MSIP_Label_9811530c-902c-4b75-8616-d6c82cd1332a_Method">
    <vt:lpwstr>Standard</vt:lpwstr>
  </property>
  <property fmtid="{D5CDD505-2E9C-101B-9397-08002B2CF9AE}" pid="7" name="MSIP_Label_9811530c-902c-4b75-8616-d6c82cd1332a_Name">
    <vt:lpwstr>9811530c-902c-4b75-8616-d6c82cd1332a</vt:lpwstr>
  </property>
  <property fmtid="{D5CDD505-2E9C-101B-9397-08002B2CF9AE}" pid="8" name="MSIP_Label_9811530c-902c-4b75-8616-d6c82cd1332a_SiteId">
    <vt:lpwstr>bf86fbdb-f8c2-440e-923c-05a60dc2bc9b</vt:lpwstr>
  </property>
  <property fmtid="{D5CDD505-2E9C-101B-9397-08002B2CF9AE}" pid="9" name="MSIP_Label_9811530c-902c-4b75-8616-d6c82cd1332a_ActionId">
    <vt:lpwstr>8ebb6880-e6f3-4fec-8431-170bf04d61d9</vt:lpwstr>
  </property>
  <property fmtid="{D5CDD505-2E9C-101B-9397-08002B2CF9AE}" pid="10" name="MSIP_Label_9811530c-902c-4b75-8616-d6c82cd1332a_ContentBits">
    <vt:lpwstr>0</vt:lpwstr>
  </property>
  <property fmtid="{D5CDD505-2E9C-101B-9397-08002B2CF9AE}" pid="11" name="MSIP_Label_9811530c-902c-4b75-8616-d6c82cd1332a_Tag">
    <vt:lpwstr>10, 3, 0, 1</vt:lpwstr>
  </property>
</Properties>
</file>